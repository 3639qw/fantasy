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5" r:id="rId9"/>
    <p:sldId id="266" r:id="rId10"/>
    <p:sldId id="267" r:id="rId11"/>
    <p:sldId id="262" r:id="rId12"/>
    <p:sldId id="26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671"/>
    <a:srgbClr val="65360F"/>
    <a:srgbClr val="F39435"/>
    <a:srgbClr val="D27120"/>
    <a:srgbClr val="B8A63A"/>
    <a:srgbClr val="0F0E23"/>
    <a:srgbClr val="3E8948"/>
    <a:srgbClr val="3F886C"/>
    <a:srgbClr val="DDAF8F"/>
    <a:srgbClr val="EDD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95" autoAdjust="0"/>
    <p:restoredTop sz="92656" autoAdjust="0"/>
  </p:normalViewPr>
  <p:slideViewPr>
    <p:cSldViewPr snapToGrid="0">
      <p:cViewPr varScale="1">
        <p:scale>
          <a:sx n="112" d="100"/>
          <a:sy n="112" d="100"/>
        </p:scale>
        <p:origin x="13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DBB96-4357-4FAE-9D6A-74A49BD998C6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47C33-1605-4162-AD5A-E390BD3E0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48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47C33-1605-4162-AD5A-E390BD3E0D9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601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47C33-1605-4162-AD5A-E390BD3E0D9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30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47C33-1605-4162-AD5A-E390BD3E0D9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066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5C0AB-F07B-548E-AD49-954EC15E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8F842F-BAD8-0D82-5795-C5B3A1ABD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9F0ED6-FEE4-936C-2ED1-E8CE07ABB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10AD1-9848-507F-9C01-688F1D571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47C33-1605-4162-AD5A-E390BD3E0D9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215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77175-4E62-2A8F-E91B-E3546EB16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5DED53-B4C5-2BB5-29F0-6DFF8F462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74E6C4-3156-6227-9E34-2C937B949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68406C-82B2-A3F4-9266-23970A92F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47C33-1605-4162-AD5A-E390BD3E0D9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456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E489B-9F52-A0E3-B1C8-0D34C90D1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9D2CD2-A2A4-5CA2-F555-AAF999E97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1B8101-9E3D-B7FE-0DC9-F98651820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FDFAA-76E1-1601-3D46-8574B9578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47C33-1605-4162-AD5A-E390BD3E0D9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02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47C33-1605-4162-AD5A-E390BD3E0D9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17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9F618-0B1F-11A1-FF08-DAB68BBB4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3D9842-BB81-547D-25EA-2787D7ABF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1AB340-8CEF-97AF-CDAB-981328140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2DD6-2F1F-4CAA-8EA6-E7A8115DBA0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018522-E77F-AA6A-5FA0-1993C683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2E91E7-A893-DDD2-E4DC-1080D5BC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34C6-DCCC-498F-910C-93C71B86B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38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75D6B-A639-CF89-807F-DA012C1A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571D3D-209B-3027-CB79-0FD82FDC0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1B9050-5DA0-ED3D-8F38-3B3BC855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2DD6-2F1F-4CAA-8EA6-E7A8115DBA0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6D71B7-5E54-49DD-4321-272DA9789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956AC0-BFEF-926F-DE49-32A4FEA0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34C6-DCCC-498F-910C-93C71B86B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79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997738-277A-F8B0-E59C-37B69ED17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44C59D-9F9B-9F7E-9AE3-176D0235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F5401-254D-C17F-4C2D-08FEFB4A8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2DD6-2F1F-4CAA-8EA6-E7A8115DBA0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505D0F-B96F-19C6-8493-B893E169B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5EF861-9D63-2C03-15E1-F56F654D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34C6-DCCC-498F-910C-93C71B86B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484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007F7-8014-2871-4155-2F9F1657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7DABA7-D849-71F4-763C-BC9025D05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FCC4A3-C597-363B-D2C9-BE94F0ADA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9D44FD-ADAB-1CF4-A598-A2772F345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2DD6-2F1F-4CAA-8EA6-E7A8115DBA0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02CD2-2A90-60F3-B34D-32A7A608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498EEB-597B-1059-7EFE-B8BD63100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34C6-DCCC-498F-910C-93C71B86B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993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2A49D3-48CD-EACD-CA2B-934376864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DC5C3A-9BC1-B852-2D24-492B1040D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142787-CBDD-8670-A91E-8818F1F96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435E8C-B2D6-583C-C0E4-4ACD24C96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CE9DF2-E4E6-EB01-4B05-30C492002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4AD283C-30D2-06C9-FEB2-5E138712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2DD6-2F1F-4CAA-8EA6-E7A8115DBA0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2C3472-8D66-E18F-3A62-9F803E23C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52CCF1-BD41-7F45-59D2-FFB36973F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34C6-DCCC-498F-910C-93C71B86B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555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F2A36-E3EA-CF9C-4030-B3570D4D1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4147E2-FA0D-3373-A249-9E151D7F0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2DD6-2F1F-4CAA-8EA6-E7A8115DBA0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75E00D-4496-3F37-2782-93E8B6CF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073D6D-57AA-17D6-16FE-0848AEB9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34C6-DCCC-498F-910C-93C71B86B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44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496D9B-21E6-50EC-E6BA-E976B1BCD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2DD6-2F1F-4CAA-8EA6-E7A8115DBA0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92ECE6-57A9-151B-9C5E-2C83382A1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60600F-5997-6EB6-7548-EC7AD66B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34C6-DCCC-498F-910C-93C71B86B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236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E011B-4A6A-2FB2-F86D-1D4BF64B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EE8BC2-6834-DD40-4E14-73CA6C404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158365-63B0-9F7D-7E1A-8859E0980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7DF9F2-7525-DEA4-61C6-804C57CD7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2DD6-2F1F-4CAA-8EA6-E7A8115DBA0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59E81F-2559-DE76-573C-61C03115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DCECCD-2755-273C-7350-7C80273D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34C6-DCCC-498F-910C-93C71B86B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85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D47C5-7E56-EDAA-F930-0FDE7277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089D97-F26C-824A-9B3F-B1794F37E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9BA3EE-6222-C4A4-B53A-0103F906B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A4F54A-3013-7925-BB03-7B8DBBDD4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2DD6-2F1F-4CAA-8EA6-E7A8115DBA0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B48C1C-67BC-E27B-282F-ECE9F4741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DAEF04-0E4E-FC6E-5634-74113779F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34C6-DCCC-498F-910C-93C71B86B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49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44D52-FA67-4D12-3BA1-04AD5A8E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2FC439-B1FA-5A42-F589-7B083146B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9C2289-794C-5BB4-2F3D-199741804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2DD6-2F1F-4CAA-8EA6-E7A8115DBA0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4139FC-9041-D00E-A9F3-969C535DC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09042F-AECE-AA2A-1828-1D67A973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34C6-DCCC-498F-910C-93C71B86B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18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6DDEBA-D63B-E321-E26C-EFB46154C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EC73A0-B5AA-22FA-5ACE-8FB11FBD6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56C19F-29E2-1298-15FB-26714A93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2DD6-2F1F-4CAA-8EA6-E7A8115DBA0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F5E226-97BD-C4CB-1724-1A0531EE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A1BDD1-C5F6-4927-CDAE-F78A7248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34C6-DCCC-498F-910C-93C71B86B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52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06C572-C487-2A02-C3D5-DDE97CB7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99BFB8-5E25-CB34-8C68-0B27FA1C3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41B68F-83F3-A5C3-CC3F-3DE63D5A0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42DD6-2F1F-4CAA-8EA6-E7A8115DBA0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032F55-BBAC-F761-53B6-0726A17DE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4138A3-D6F1-8D4C-2E1F-740A373ED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134C6-DCCC-498F-910C-93C71B86B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019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OZyQkHwtnyE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19FD654E-40AA-C8FA-CDE0-B171ED5584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1" name="그림 10" descr="PC 게임, 비디오 게임 소프트웨어, 스크린샷, 애니메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607D43-3FE0-FB6D-604D-0B0ED5550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300D04-B5E4-62A5-F3F1-0105625D7E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B649E4-50B6-2240-6505-153B90674EA9}"/>
              </a:ext>
            </a:extLst>
          </p:cNvPr>
          <p:cNvSpPr txBox="1"/>
          <p:nvPr/>
        </p:nvSpPr>
        <p:spPr>
          <a:xfrm>
            <a:off x="350196" y="161519"/>
            <a:ext cx="99124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b="1" dirty="0">
                <a:solidFill>
                  <a:srgbClr val="FFF397"/>
                </a:solidFill>
                <a:latin typeface="Eras Bold ITC" panose="020B0907030504020204" pitchFamily="34" charset="0"/>
                <a:ea typeface="STXingkai" panose="020B0503020204020204" pitchFamily="2" charset="-122"/>
              </a:rPr>
              <a:t>Hero’s Harvest</a:t>
            </a:r>
            <a:endParaRPr lang="ko-KR" altLang="en-US" sz="9600" b="1" dirty="0">
              <a:solidFill>
                <a:srgbClr val="FFF397"/>
              </a:solidFill>
              <a:latin typeface="Eras Bold ITC" panose="020B0907030504020204" pitchFamily="34" charset="0"/>
              <a:ea typeface="HY얕은샘물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F41402-C6C0-F058-25F3-45B33642082B}"/>
              </a:ext>
            </a:extLst>
          </p:cNvPr>
          <p:cNvSpPr txBox="1"/>
          <p:nvPr/>
        </p:nvSpPr>
        <p:spPr>
          <a:xfrm>
            <a:off x="350196" y="1441011"/>
            <a:ext cx="9912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F397"/>
                </a:solidFill>
                <a:latin typeface="Eras Bold ITC" panose="020B0907030504020204" pitchFamily="34" charset="0"/>
                <a:ea typeface="STXingkai" panose="020B0503020204020204" pitchFamily="2" charset="-122"/>
              </a:rPr>
              <a:t>Farming, Fighting, Crafting RPG Simulation</a:t>
            </a:r>
            <a:endParaRPr lang="ko-KR" altLang="en-US" sz="2400" dirty="0">
              <a:solidFill>
                <a:srgbClr val="FFF397"/>
              </a:solidFill>
              <a:latin typeface="Eras Bold ITC" panose="020B0907030504020204" pitchFamily="34" charset="0"/>
              <a:ea typeface="HY얕은샘물M" panose="0203060000010101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135BB1-2CF0-BB9E-47B1-0DE62D26945F}"/>
              </a:ext>
            </a:extLst>
          </p:cNvPr>
          <p:cNvSpPr txBox="1"/>
          <p:nvPr/>
        </p:nvSpPr>
        <p:spPr>
          <a:xfrm>
            <a:off x="9780797" y="6527204"/>
            <a:ext cx="9912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F39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이주용</a:t>
            </a:r>
            <a:r>
              <a:rPr lang="en-US" altLang="ko-KR" sz="1600" dirty="0">
                <a:solidFill>
                  <a:srgbClr val="FFF39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1600" dirty="0">
                <a:solidFill>
                  <a:srgbClr val="FFF39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고윤</a:t>
            </a:r>
            <a:r>
              <a:rPr lang="en-US" altLang="ko-KR" sz="1600" dirty="0">
                <a:solidFill>
                  <a:srgbClr val="FFF39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1600" dirty="0" err="1">
                <a:solidFill>
                  <a:srgbClr val="FFF39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문석민</a:t>
            </a:r>
            <a:r>
              <a:rPr lang="en-US" altLang="ko-KR" sz="1600" dirty="0">
                <a:solidFill>
                  <a:srgbClr val="FFF39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1600" dirty="0" err="1">
                <a:solidFill>
                  <a:srgbClr val="FFF397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안현웅</a:t>
            </a:r>
            <a:endParaRPr lang="ko-KR" altLang="en-US" sz="1600" dirty="0">
              <a:solidFill>
                <a:srgbClr val="FFF397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2377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19AC03-0A8A-4D3F-807F-1D11A2E35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9BA4D37-F13D-6DC9-1ADC-C1AD19AED3AF}"/>
              </a:ext>
            </a:extLst>
          </p:cNvPr>
          <p:cNvSpPr/>
          <p:nvPr/>
        </p:nvSpPr>
        <p:spPr>
          <a:xfrm>
            <a:off x="3813464" y="2171700"/>
            <a:ext cx="5262442" cy="332509"/>
          </a:xfrm>
          <a:prstGeom prst="rect">
            <a:avLst/>
          </a:prstGeom>
          <a:solidFill>
            <a:srgbClr val="CF90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0F76C2B-211E-A6C8-B09F-B422575A20F0}"/>
              </a:ext>
            </a:extLst>
          </p:cNvPr>
          <p:cNvSpPr/>
          <p:nvPr/>
        </p:nvSpPr>
        <p:spPr>
          <a:xfrm>
            <a:off x="3813464" y="3092179"/>
            <a:ext cx="5262442" cy="390322"/>
          </a:xfrm>
          <a:prstGeom prst="rect">
            <a:avLst/>
          </a:prstGeom>
          <a:solidFill>
            <a:srgbClr val="CF90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8614D5-7D42-A888-1183-F30BE19AE527}"/>
              </a:ext>
            </a:extLst>
          </p:cNvPr>
          <p:cNvSpPr/>
          <p:nvPr/>
        </p:nvSpPr>
        <p:spPr>
          <a:xfrm>
            <a:off x="3813464" y="4040626"/>
            <a:ext cx="5262442" cy="332509"/>
          </a:xfrm>
          <a:prstGeom prst="rect">
            <a:avLst/>
          </a:prstGeom>
          <a:solidFill>
            <a:srgbClr val="CF90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489F18-4642-A319-4976-587AA11E8337}"/>
              </a:ext>
            </a:extLst>
          </p:cNvPr>
          <p:cNvSpPr/>
          <p:nvPr/>
        </p:nvSpPr>
        <p:spPr>
          <a:xfrm>
            <a:off x="3813464" y="4961105"/>
            <a:ext cx="5262442" cy="391945"/>
          </a:xfrm>
          <a:prstGeom prst="rect">
            <a:avLst/>
          </a:prstGeom>
          <a:solidFill>
            <a:srgbClr val="CF90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4A9720-74B1-482A-65DD-C64CDFCD180C}"/>
              </a:ext>
            </a:extLst>
          </p:cNvPr>
          <p:cNvSpPr/>
          <p:nvPr/>
        </p:nvSpPr>
        <p:spPr>
          <a:xfrm>
            <a:off x="3813464" y="5837405"/>
            <a:ext cx="5262442" cy="442745"/>
          </a:xfrm>
          <a:prstGeom prst="rect">
            <a:avLst/>
          </a:prstGeom>
          <a:solidFill>
            <a:srgbClr val="CF90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04F469-C6B0-5E59-4774-C6F506CA0B08}"/>
              </a:ext>
            </a:extLst>
          </p:cNvPr>
          <p:cNvSpPr/>
          <p:nvPr/>
        </p:nvSpPr>
        <p:spPr>
          <a:xfrm>
            <a:off x="2616740" y="4688732"/>
            <a:ext cx="7033098" cy="953311"/>
          </a:xfrm>
          <a:prstGeom prst="rect">
            <a:avLst/>
          </a:prstGeom>
          <a:solidFill>
            <a:srgbClr val="3496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F630AA-5F08-51AB-2617-3C5992917243}"/>
              </a:ext>
            </a:extLst>
          </p:cNvPr>
          <p:cNvSpPr/>
          <p:nvPr/>
        </p:nvSpPr>
        <p:spPr>
          <a:xfrm>
            <a:off x="10912480" y="5505921"/>
            <a:ext cx="1044324" cy="1105711"/>
          </a:xfrm>
          <a:prstGeom prst="rect">
            <a:avLst/>
          </a:prstGeom>
          <a:solidFill>
            <a:srgbClr val="3496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505311D-86E8-B644-81C1-CEF2B857D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2206071" cy="6858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F81BD07-C54A-FEBF-0AEF-D47E2CE97CDE}"/>
              </a:ext>
            </a:extLst>
          </p:cNvPr>
          <p:cNvSpPr txBox="1"/>
          <p:nvPr/>
        </p:nvSpPr>
        <p:spPr>
          <a:xfrm>
            <a:off x="3750233" y="2113534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작품 개요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01FC83-CB00-4D08-F398-4AE44F60F45B}"/>
              </a:ext>
            </a:extLst>
          </p:cNvPr>
          <p:cNvSpPr txBox="1"/>
          <p:nvPr/>
        </p:nvSpPr>
        <p:spPr>
          <a:xfrm>
            <a:off x="3750232" y="3077080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구성 요소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5D3621-B633-1C56-E7A4-AD0954BF21D3}"/>
              </a:ext>
            </a:extLst>
          </p:cNvPr>
          <p:cNvSpPr txBox="1"/>
          <p:nvPr/>
        </p:nvSpPr>
        <p:spPr>
          <a:xfrm>
            <a:off x="3750232" y="3979347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사용 기술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6F966B-44B4-483E-E344-4976A6F83EB2}"/>
              </a:ext>
            </a:extLst>
          </p:cNvPr>
          <p:cNvSpPr txBox="1"/>
          <p:nvPr/>
        </p:nvSpPr>
        <p:spPr>
          <a:xfrm>
            <a:off x="3750231" y="4961105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시연 영상</a:t>
            </a:r>
          </a:p>
        </p:txBody>
      </p:sp>
    </p:spTree>
    <p:extLst>
      <p:ext uri="{BB962C8B-B14F-4D97-AF65-F5344CB8AC3E}">
        <p14:creationId xmlns:p14="http://schemas.microsoft.com/office/powerpoint/2010/main" val="1252643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D1DF-04E8-E1AD-4A21-56FFBDD1E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B4DBA4E5-327A-D76E-3690-503BDA8402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1" name="그림 10" descr="PC 게임, 비디오 게임 소프트웨어, 스크린샷, 애니메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191BFC-EE0B-617D-27EC-B1286D615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7583D3-0121-3919-0DC7-15C29C6E92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DAF8F">
              <a:alpha val="8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F6B796-A429-897A-D6E9-308F5626D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0512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20AA36E-D6ED-DF73-3BB5-D2CBFA427F8E}"/>
              </a:ext>
            </a:extLst>
          </p:cNvPr>
          <p:cNvSpPr/>
          <p:nvPr/>
        </p:nvSpPr>
        <p:spPr>
          <a:xfrm>
            <a:off x="10515600" y="209550"/>
            <a:ext cx="95250" cy="161925"/>
          </a:xfrm>
          <a:prstGeom prst="rect">
            <a:avLst/>
          </a:prstGeom>
          <a:solidFill>
            <a:srgbClr val="0F0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0C1B02-DA27-4CD7-3321-A865AD6FBFE3}"/>
              </a:ext>
            </a:extLst>
          </p:cNvPr>
          <p:cNvSpPr/>
          <p:nvPr/>
        </p:nvSpPr>
        <p:spPr>
          <a:xfrm>
            <a:off x="3677055" y="136186"/>
            <a:ext cx="4659549" cy="600413"/>
          </a:xfrm>
          <a:prstGeom prst="rect">
            <a:avLst/>
          </a:prstGeom>
          <a:solidFill>
            <a:srgbClr val="E6A6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A5A737-CACD-CF51-6715-C499E7DEA4CD}"/>
              </a:ext>
            </a:extLst>
          </p:cNvPr>
          <p:cNvSpPr txBox="1"/>
          <p:nvPr/>
        </p:nvSpPr>
        <p:spPr>
          <a:xfrm>
            <a:off x="5221947" y="205559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작품 개요</a:t>
            </a:r>
          </a:p>
        </p:txBody>
      </p:sp>
      <p:pic>
        <p:nvPicPr>
          <p:cNvPr id="1026" name="Picture 2" descr="Stardew Valley on Steam">
            <a:extLst>
              <a:ext uri="{FF2B5EF4-FFF2-40B4-BE49-F238E27FC236}">
                <a16:creationId xmlns:a16="http://schemas.microsoft.com/office/drawing/2014/main" id="{68BFC20D-271D-2CEE-57F5-1188ECCB9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51130"/>
            <a:ext cx="3800475" cy="217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rraria on Steam">
            <a:extLst>
              <a:ext uri="{FF2B5EF4-FFF2-40B4-BE49-F238E27FC236}">
                <a16:creationId xmlns:a16="http://schemas.microsoft.com/office/drawing/2014/main" id="{42741CBB-3DC2-E367-62F2-D756EAA70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324" y="1251130"/>
            <a:ext cx="3800476" cy="217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3C35C1-A29C-106D-B824-FEF76AE34884}"/>
              </a:ext>
            </a:extLst>
          </p:cNvPr>
          <p:cNvSpPr txBox="1"/>
          <p:nvPr/>
        </p:nvSpPr>
        <p:spPr>
          <a:xfrm>
            <a:off x="1315573" y="3650729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농사 시뮬레이션 위주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9B0C1-7354-27E8-2840-BA5301092A69}"/>
              </a:ext>
            </a:extLst>
          </p:cNvPr>
          <p:cNvSpPr txBox="1"/>
          <p:nvPr/>
        </p:nvSpPr>
        <p:spPr>
          <a:xfrm>
            <a:off x="8250897" y="3672433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롤플레잉 게임 위주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17F09-1EC4-6E25-15ED-5A9B6DCC5823}"/>
              </a:ext>
            </a:extLst>
          </p:cNvPr>
          <p:cNvSpPr txBox="1"/>
          <p:nvPr/>
        </p:nvSpPr>
        <p:spPr>
          <a:xfrm>
            <a:off x="1315573" y="4451002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전투 경험 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1BAF7C-99DB-51E0-25C2-F20AD227C44C}"/>
              </a:ext>
            </a:extLst>
          </p:cNvPr>
          <p:cNvSpPr txBox="1"/>
          <p:nvPr/>
        </p:nvSpPr>
        <p:spPr>
          <a:xfrm>
            <a:off x="8250896" y="4451001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파밍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경험 ▼</a:t>
            </a:r>
          </a:p>
        </p:txBody>
      </p:sp>
    </p:spTree>
    <p:extLst>
      <p:ext uri="{BB962C8B-B14F-4D97-AF65-F5344CB8AC3E}">
        <p14:creationId xmlns:p14="http://schemas.microsoft.com/office/powerpoint/2010/main" val="22692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0998F-5669-3721-1970-39F5F3933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CFAFD68D-10D3-CFCE-4F6B-A1D6A1EE59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1" name="그림 10" descr="PC 게임, 비디오 게임 소프트웨어, 스크린샷, 애니메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7F72B4-94FB-A04E-3E61-AEDD7189C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C9029E-4659-42AE-0F20-C9D0FD13F9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E6BD52-6A94-FDB6-EF7C-1BB4212C3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0512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0A79E07-BFFF-8FF7-D782-6A73655E8CFD}"/>
              </a:ext>
            </a:extLst>
          </p:cNvPr>
          <p:cNvSpPr/>
          <p:nvPr/>
        </p:nvSpPr>
        <p:spPr>
          <a:xfrm>
            <a:off x="10515600" y="209550"/>
            <a:ext cx="95250" cy="161925"/>
          </a:xfrm>
          <a:prstGeom prst="rect">
            <a:avLst/>
          </a:prstGeom>
          <a:solidFill>
            <a:srgbClr val="0F0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B2E2C5-C424-09DD-497D-E60840C3F5A9}"/>
              </a:ext>
            </a:extLst>
          </p:cNvPr>
          <p:cNvSpPr/>
          <p:nvPr/>
        </p:nvSpPr>
        <p:spPr>
          <a:xfrm>
            <a:off x="3677055" y="136186"/>
            <a:ext cx="4659549" cy="600413"/>
          </a:xfrm>
          <a:prstGeom prst="rect">
            <a:avLst/>
          </a:prstGeom>
          <a:solidFill>
            <a:srgbClr val="E6A6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476AB1-DFA2-520C-A5EE-3E446BB13A10}"/>
              </a:ext>
            </a:extLst>
          </p:cNvPr>
          <p:cNvSpPr txBox="1"/>
          <p:nvPr/>
        </p:nvSpPr>
        <p:spPr>
          <a:xfrm>
            <a:off x="5312330" y="205559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구성 요소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948D0-5052-93E7-8808-A9D59CD33EE5}"/>
              </a:ext>
            </a:extLst>
          </p:cNvPr>
          <p:cNvSpPr txBox="1"/>
          <p:nvPr/>
        </p:nvSpPr>
        <p:spPr>
          <a:xfrm>
            <a:off x="4677332" y="1180541"/>
            <a:ext cx="5711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강력한 적들을 상대와의 전투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A40A89-968D-4946-DC87-99822202A0FA}"/>
              </a:ext>
            </a:extLst>
          </p:cNvPr>
          <p:cNvSpPr txBox="1"/>
          <p:nvPr/>
        </p:nvSpPr>
        <p:spPr>
          <a:xfrm>
            <a:off x="5312331" y="2268002"/>
            <a:ext cx="53889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다양한 몬스터 구현</a:t>
            </a:r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여러 종류의 무기와 장비</a:t>
            </a:r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다양한 상태이상과 대응책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F44800B-1168-9E49-225B-CD0F550A1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96" y="1260040"/>
            <a:ext cx="4138741" cy="232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435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67358-2524-12FC-A96B-BD0495538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D99DCD52-D812-D0AC-DE46-054E189B9D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1" name="그림 10" descr="PC 게임, 비디오 게임 소프트웨어, 스크린샷, 애니메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EC6E0B-777F-2C4F-EFEE-4F25158EB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831BF1-1382-23FA-23E9-8C04353621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6EAA01-376C-9483-41AD-9247E5F19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0512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C5F79F9-DACE-E5C1-60F5-62C01BD3CCCE}"/>
              </a:ext>
            </a:extLst>
          </p:cNvPr>
          <p:cNvSpPr/>
          <p:nvPr/>
        </p:nvSpPr>
        <p:spPr>
          <a:xfrm>
            <a:off x="10515600" y="209550"/>
            <a:ext cx="95250" cy="161925"/>
          </a:xfrm>
          <a:prstGeom prst="rect">
            <a:avLst/>
          </a:prstGeom>
          <a:solidFill>
            <a:srgbClr val="0F0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9E7712D-0B58-6A49-DA41-AF4003F4E1DC}"/>
              </a:ext>
            </a:extLst>
          </p:cNvPr>
          <p:cNvSpPr/>
          <p:nvPr/>
        </p:nvSpPr>
        <p:spPr>
          <a:xfrm>
            <a:off x="3677055" y="136186"/>
            <a:ext cx="4659549" cy="600413"/>
          </a:xfrm>
          <a:prstGeom prst="rect">
            <a:avLst/>
          </a:prstGeom>
          <a:solidFill>
            <a:srgbClr val="E6A6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DACD6E-085C-46DA-51B1-E95120044957}"/>
              </a:ext>
            </a:extLst>
          </p:cNvPr>
          <p:cNvSpPr txBox="1"/>
          <p:nvPr/>
        </p:nvSpPr>
        <p:spPr>
          <a:xfrm>
            <a:off x="5312330" y="205559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구성 요소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DC88F-03A6-E595-E32D-F39659CD71EE}"/>
              </a:ext>
            </a:extLst>
          </p:cNvPr>
          <p:cNvSpPr txBox="1"/>
          <p:nvPr/>
        </p:nvSpPr>
        <p:spPr>
          <a:xfrm>
            <a:off x="4677332" y="1180541"/>
            <a:ext cx="5711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다양한 채집 요소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62972D-A6B7-9890-0DBB-3A80E3B363A3}"/>
              </a:ext>
            </a:extLst>
          </p:cNvPr>
          <p:cNvSpPr txBox="1"/>
          <p:nvPr/>
        </p:nvSpPr>
        <p:spPr>
          <a:xfrm>
            <a:off x="5312331" y="2268002"/>
            <a:ext cx="53889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다양한 채집 오브젝트의 구현</a:t>
            </a:r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전투나 생활에 도움이 되는 귀중한 자원</a:t>
            </a:r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위험한 장소의 고가치의 아이템</a:t>
            </a:r>
          </a:p>
        </p:txBody>
      </p:sp>
      <p:pic>
        <p:nvPicPr>
          <p:cNvPr id="13" name="그림 12" descr="스크린샷, 그래픽 소프트웨어, PC 게임, 비디오 게임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73FAFE-2933-40B2-93B3-6E9B7F7E90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53" y="1163087"/>
            <a:ext cx="4131047" cy="23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24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D49DD-2D9F-851E-3D8C-38AB3781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6B921C4B-652F-B234-55FE-8F54CA7913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1" name="그림 10" descr="PC 게임, 비디오 게임 소프트웨어, 스크린샷, 애니메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94B0DE-5CEE-4CCE-EAA4-0D0400520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991DE59-EFED-AA90-8A95-DF08CA2C86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49BBCD-77C5-6FD3-D87B-9162E9CA3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0512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5C94138-A6B4-54FD-6F49-2B1DB847C85A}"/>
              </a:ext>
            </a:extLst>
          </p:cNvPr>
          <p:cNvSpPr/>
          <p:nvPr/>
        </p:nvSpPr>
        <p:spPr>
          <a:xfrm>
            <a:off x="10515600" y="209550"/>
            <a:ext cx="95250" cy="161925"/>
          </a:xfrm>
          <a:prstGeom prst="rect">
            <a:avLst/>
          </a:prstGeom>
          <a:solidFill>
            <a:srgbClr val="0F0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FA557F-E798-3E46-4B69-7C64B5394AAD}"/>
              </a:ext>
            </a:extLst>
          </p:cNvPr>
          <p:cNvSpPr/>
          <p:nvPr/>
        </p:nvSpPr>
        <p:spPr>
          <a:xfrm>
            <a:off x="3677055" y="136186"/>
            <a:ext cx="4659549" cy="600413"/>
          </a:xfrm>
          <a:prstGeom prst="rect">
            <a:avLst/>
          </a:prstGeom>
          <a:solidFill>
            <a:srgbClr val="E6A6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1DB3C0-364C-0C23-ED40-74D5A1F0E4CA}"/>
              </a:ext>
            </a:extLst>
          </p:cNvPr>
          <p:cNvSpPr txBox="1"/>
          <p:nvPr/>
        </p:nvSpPr>
        <p:spPr>
          <a:xfrm>
            <a:off x="5312331" y="183210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구성 요소</a:t>
            </a:r>
          </a:p>
        </p:txBody>
      </p:sp>
      <p:pic>
        <p:nvPicPr>
          <p:cNvPr id="3" name="그림 2" descr="만화 영화, 클립아트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4E914C-1DC5-5010-3027-B7837F2C0E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52" y="1180541"/>
            <a:ext cx="3840348" cy="39458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E38460-68C1-8225-654B-8718C7DB3088}"/>
              </a:ext>
            </a:extLst>
          </p:cNvPr>
          <p:cNvSpPr txBox="1"/>
          <p:nvPr/>
        </p:nvSpPr>
        <p:spPr>
          <a:xfrm>
            <a:off x="4677332" y="1180541"/>
            <a:ext cx="5711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작물을 키우는 농사 컨텐츠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A6E5F-7892-056E-F72D-EB00862DE1C6}"/>
              </a:ext>
            </a:extLst>
          </p:cNvPr>
          <p:cNvSpPr txBox="1"/>
          <p:nvPr/>
        </p:nvSpPr>
        <p:spPr>
          <a:xfrm>
            <a:off x="5312331" y="2268002"/>
            <a:ext cx="61049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다양한 종류의 작물을 재배</a:t>
            </a:r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열매로 소모품을 만들어 강력한 효과를 얻음</a:t>
            </a:r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희귀한 작물은 더 강한 효과를 부여</a:t>
            </a:r>
          </a:p>
        </p:txBody>
      </p:sp>
    </p:spTree>
    <p:extLst>
      <p:ext uri="{BB962C8B-B14F-4D97-AF65-F5344CB8AC3E}">
        <p14:creationId xmlns:p14="http://schemas.microsoft.com/office/powerpoint/2010/main" val="4201934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F68C8-332D-252E-5238-37C3D5E7F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60D1A878-4322-BD18-A06F-D18265E383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1" name="그림 10" descr="PC 게임, 비디오 게임 소프트웨어, 스크린샷, 애니메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9E5D02-22FD-3417-0764-F06FFA906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490B48-6DEB-97D6-B35C-E7162B2770CD}"/>
              </a:ext>
            </a:extLst>
          </p:cNvPr>
          <p:cNvSpPr/>
          <p:nvPr/>
        </p:nvSpPr>
        <p:spPr>
          <a:xfrm>
            <a:off x="0" y="371475"/>
            <a:ext cx="12192000" cy="6858000"/>
          </a:xfrm>
          <a:prstGeom prst="rect">
            <a:avLst/>
          </a:prstGeom>
          <a:solidFill>
            <a:schemeClr val="tx2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5D75E5-513A-F7E1-D9FD-F75C5BCF7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0512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46AC679-EEDD-FADE-2454-0F687C7E8803}"/>
              </a:ext>
            </a:extLst>
          </p:cNvPr>
          <p:cNvSpPr/>
          <p:nvPr/>
        </p:nvSpPr>
        <p:spPr>
          <a:xfrm>
            <a:off x="10515600" y="209550"/>
            <a:ext cx="95250" cy="161925"/>
          </a:xfrm>
          <a:prstGeom prst="rect">
            <a:avLst/>
          </a:prstGeom>
          <a:solidFill>
            <a:srgbClr val="0F0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1FD923-4B9E-CD73-E9B3-F41EB4B958C3}"/>
              </a:ext>
            </a:extLst>
          </p:cNvPr>
          <p:cNvSpPr/>
          <p:nvPr/>
        </p:nvSpPr>
        <p:spPr>
          <a:xfrm>
            <a:off x="3677055" y="136186"/>
            <a:ext cx="4659549" cy="600413"/>
          </a:xfrm>
          <a:prstGeom prst="rect">
            <a:avLst/>
          </a:prstGeom>
          <a:solidFill>
            <a:srgbClr val="E6A6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1C811A-09ED-24D7-E4BB-4F329406BF15}"/>
              </a:ext>
            </a:extLst>
          </p:cNvPr>
          <p:cNvSpPr txBox="1"/>
          <p:nvPr/>
        </p:nvSpPr>
        <p:spPr>
          <a:xfrm>
            <a:off x="5312331" y="224905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구성 요소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1A9E1-B9BA-6FA9-35D7-E12A9E41CBF8}"/>
              </a:ext>
            </a:extLst>
          </p:cNvPr>
          <p:cNvSpPr txBox="1"/>
          <p:nvPr/>
        </p:nvSpPr>
        <p:spPr>
          <a:xfrm>
            <a:off x="4677331" y="1180541"/>
            <a:ext cx="610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획득한 아이템으로 유용한 도구를 제작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E445B-D282-D95E-69CE-7D9B62E462F4}"/>
              </a:ext>
            </a:extLst>
          </p:cNvPr>
          <p:cNvSpPr txBox="1"/>
          <p:nvPr/>
        </p:nvSpPr>
        <p:spPr>
          <a:xfrm>
            <a:off x="5312331" y="2268002"/>
            <a:ext cx="61049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다양한 종류의 작물을 재배</a:t>
            </a:r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열매로 소모품을 만들어 강력한 효과를 얻음</a:t>
            </a:r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sz="24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희귀한 작물은 더 강한 효과를 부여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3471333-5143-ABA6-EF7C-9AC4F8E916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15" y="3967566"/>
            <a:ext cx="2002631" cy="681746"/>
          </a:xfrm>
          <a:prstGeom prst="rect">
            <a:avLst/>
          </a:prstGeom>
        </p:spPr>
      </p:pic>
      <p:sp>
        <p:nvSpPr>
          <p:cNvPr id="23" name="더하기 기호 22">
            <a:extLst>
              <a:ext uri="{FF2B5EF4-FFF2-40B4-BE49-F238E27FC236}">
                <a16:creationId xmlns:a16="http://schemas.microsoft.com/office/drawing/2014/main" id="{6701FD30-21A7-E1FD-7300-039517F948C4}"/>
              </a:ext>
            </a:extLst>
          </p:cNvPr>
          <p:cNvSpPr/>
          <p:nvPr/>
        </p:nvSpPr>
        <p:spPr>
          <a:xfrm>
            <a:off x="1634465" y="4771720"/>
            <a:ext cx="717132" cy="681746"/>
          </a:xfrm>
          <a:prstGeom prst="mathPlus">
            <a:avLst/>
          </a:prstGeom>
          <a:solidFill>
            <a:srgbClr val="6536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2750030F-CA06-11AC-E553-34B72F1D8B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03" y="5667070"/>
            <a:ext cx="3208202" cy="681745"/>
          </a:xfrm>
          <a:prstGeom prst="rect">
            <a:avLst/>
          </a:prstGeom>
        </p:spPr>
      </p:pic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3EFF7413-EA70-82CE-7219-55F6BC4949C9}"/>
              </a:ext>
            </a:extLst>
          </p:cNvPr>
          <p:cNvSpPr/>
          <p:nvPr/>
        </p:nvSpPr>
        <p:spPr>
          <a:xfrm>
            <a:off x="3503605" y="4961341"/>
            <a:ext cx="3086100" cy="302504"/>
          </a:xfrm>
          <a:prstGeom prst="rightArrow">
            <a:avLst/>
          </a:prstGeom>
          <a:solidFill>
            <a:srgbClr val="6536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66A291C0-08DC-4833-B24C-BF5DEAC8AE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334" y="4771235"/>
            <a:ext cx="5093037" cy="681746"/>
          </a:xfrm>
          <a:prstGeom prst="rect">
            <a:avLst/>
          </a:prstGeom>
        </p:spPr>
      </p:pic>
      <p:pic>
        <p:nvPicPr>
          <p:cNvPr id="3" name="그림 2" descr="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3B81A9-EE9E-3E8C-F18F-AFBDCB96FF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67" y="1071453"/>
            <a:ext cx="3269064" cy="279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495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F488C-60B9-7429-2E23-6642121F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81D7D8E-55BF-05E8-3787-21792D6D3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678"/>
            <a:ext cx="12192000" cy="6801322"/>
          </a:xfrm>
          <a:prstGeom prst="rect">
            <a:avLst/>
          </a:prstGeom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5B7993E8-875F-FD31-468B-F0ED7E7245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24FC12-5329-FD78-40EA-C30B53CB8A66}"/>
              </a:ext>
            </a:extLst>
          </p:cNvPr>
          <p:cNvSpPr/>
          <p:nvPr/>
        </p:nvSpPr>
        <p:spPr>
          <a:xfrm>
            <a:off x="0" y="110401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0758CC-D536-5E49-A655-16A5CB771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0512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639F9A6-839D-5A49-2D82-278B0BB1A323}"/>
              </a:ext>
            </a:extLst>
          </p:cNvPr>
          <p:cNvSpPr/>
          <p:nvPr/>
        </p:nvSpPr>
        <p:spPr>
          <a:xfrm>
            <a:off x="10515600" y="209550"/>
            <a:ext cx="95250" cy="161925"/>
          </a:xfrm>
          <a:prstGeom prst="rect">
            <a:avLst/>
          </a:prstGeom>
          <a:solidFill>
            <a:srgbClr val="0F0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9ECFBA3-1C6A-82C8-57BB-32BD10BC4621}"/>
              </a:ext>
            </a:extLst>
          </p:cNvPr>
          <p:cNvSpPr/>
          <p:nvPr/>
        </p:nvSpPr>
        <p:spPr>
          <a:xfrm>
            <a:off x="3677055" y="136186"/>
            <a:ext cx="4659549" cy="600413"/>
          </a:xfrm>
          <a:prstGeom prst="rect">
            <a:avLst/>
          </a:prstGeom>
          <a:solidFill>
            <a:srgbClr val="E6A6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473970-52B5-8752-47B6-B18C12B275A3}"/>
              </a:ext>
            </a:extLst>
          </p:cNvPr>
          <p:cNvSpPr txBox="1"/>
          <p:nvPr/>
        </p:nvSpPr>
        <p:spPr>
          <a:xfrm>
            <a:off x="5312331" y="224905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사용 기술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9A099-87AA-DFB5-64CA-B34FD4A0D9F2}"/>
              </a:ext>
            </a:extLst>
          </p:cNvPr>
          <p:cNvSpPr txBox="1"/>
          <p:nvPr/>
        </p:nvSpPr>
        <p:spPr>
          <a:xfrm>
            <a:off x="248206" y="1073350"/>
            <a:ext cx="610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FSM</a:t>
            </a:r>
            <a:r>
              <a:rPr lang="ko-KR" altLang="en-US" sz="28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8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(Finite State Machine)</a:t>
            </a:r>
            <a:endParaRPr lang="ko-KR" altLang="en-US" sz="28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A2BDCF-AC08-EC34-D3F1-CE056862DBC6}"/>
              </a:ext>
            </a:extLst>
          </p:cNvPr>
          <p:cNvSpPr txBox="1"/>
          <p:nvPr/>
        </p:nvSpPr>
        <p:spPr>
          <a:xfrm>
            <a:off x="5441022" y="1104127"/>
            <a:ext cx="6408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게임 </a:t>
            </a:r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AI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에게 지능을 부여하기 위한 모델</a:t>
            </a:r>
          </a:p>
        </p:txBody>
      </p:sp>
      <p:pic>
        <p:nvPicPr>
          <p:cNvPr id="8" name="그림 7" descr="텍스트, 스크린샷, 폰트, 편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9490B3-1BEF-9215-6397-88EA3B87FE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372" y="1703547"/>
            <a:ext cx="6845300" cy="456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436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CFCD1-E8FE-8E53-02B9-7980E1BCB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F45881-00BC-134D-4B5D-0F1151FE1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678"/>
            <a:ext cx="12192000" cy="6801322"/>
          </a:xfrm>
          <a:prstGeom prst="rect">
            <a:avLst/>
          </a:prstGeom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D0A2C2D3-EABE-EDD4-B4FB-251260EA13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128A1C-A2F7-DAC1-2F95-FF6D80EC4C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3EE62C-AA37-918E-D191-E3436D488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0512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799F386-8A41-7880-5C5F-8FAD722193A8}"/>
              </a:ext>
            </a:extLst>
          </p:cNvPr>
          <p:cNvSpPr/>
          <p:nvPr/>
        </p:nvSpPr>
        <p:spPr>
          <a:xfrm>
            <a:off x="10515600" y="209550"/>
            <a:ext cx="95250" cy="161925"/>
          </a:xfrm>
          <a:prstGeom prst="rect">
            <a:avLst/>
          </a:prstGeom>
          <a:solidFill>
            <a:srgbClr val="0F0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0DBCF7-DBA3-4E78-E099-25C4CFB8F1CD}"/>
              </a:ext>
            </a:extLst>
          </p:cNvPr>
          <p:cNvSpPr/>
          <p:nvPr/>
        </p:nvSpPr>
        <p:spPr>
          <a:xfrm>
            <a:off x="3677055" y="136186"/>
            <a:ext cx="4659549" cy="600413"/>
          </a:xfrm>
          <a:prstGeom prst="rect">
            <a:avLst/>
          </a:prstGeom>
          <a:solidFill>
            <a:srgbClr val="E6A6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2C481C-BA3F-9510-71B5-7E6A7EAC6569}"/>
              </a:ext>
            </a:extLst>
          </p:cNvPr>
          <p:cNvSpPr txBox="1"/>
          <p:nvPr/>
        </p:nvSpPr>
        <p:spPr>
          <a:xfrm>
            <a:off x="5312331" y="224905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사용 기술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7A08A-EED2-CD9C-8017-D35A18D1D3A0}"/>
              </a:ext>
            </a:extLst>
          </p:cNvPr>
          <p:cNvSpPr txBox="1"/>
          <p:nvPr/>
        </p:nvSpPr>
        <p:spPr>
          <a:xfrm>
            <a:off x="248206" y="1073350"/>
            <a:ext cx="610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NavMesh</a:t>
            </a:r>
            <a:r>
              <a:rPr lang="en-US" altLang="ko-KR" sz="28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Plus</a:t>
            </a:r>
            <a:endParaRPr lang="ko-KR" altLang="en-US" sz="28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67D5DF-CEA3-835B-6D4B-691B60261DDD}"/>
              </a:ext>
            </a:extLst>
          </p:cNvPr>
          <p:cNvSpPr txBox="1"/>
          <p:nvPr/>
        </p:nvSpPr>
        <p:spPr>
          <a:xfrm>
            <a:off x="3139992" y="1104127"/>
            <a:ext cx="8270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3D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환경을 위한 </a:t>
            </a:r>
            <a:r>
              <a:rPr lang="en-US" altLang="ko-KR" sz="2400" dirty="0" err="1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NavMesh</a:t>
            </a:r>
            <a:r>
              <a:rPr lang="en-US" altLang="ko-KR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컴포넌트를 대체하는 외부 컴포넌트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A647C0-BEDE-8949-7578-FA0F9A931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735" y="1764796"/>
            <a:ext cx="4064766" cy="3562572"/>
          </a:xfrm>
          <a:prstGeom prst="rect">
            <a:avLst/>
          </a:prstGeom>
        </p:spPr>
      </p:pic>
      <p:pic>
        <p:nvPicPr>
          <p:cNvPr id="2052" name="Picture 4" descr="인스펙터 창에 열린 NavMesh Surface 컴포넌트">
            <a:extLst>
              <a:ext uri="{FF2B5EF4-FFF2-40B4-BE49-F238E27FC236}">
                <a16:creationId xmlns:a16="http://schemas.microsoft.com/office/drawing/2014/main" id="{D1571E07-A664-0BFF-F2ED-71A7428CC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06" y="2190749"/>
            <a:ext cx="3962079" cy="269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0C46018C-92C6-C942-5309-E699CF7B53A2}"/>
              </a:ext>
            </a:extLst>
          </p:cNvPr>
          <p:cNvSpPr/>
          <p:nvPr/>
        </p:nvSpPr>
        <p:spPr>
          <a:xfrm>
            <a:off x="4701910" y="3226506"/>
            <a:ext cx="2362200" cy="461665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DDCF1-AEAF-DF0C-8A74-F48AFC9DA1AD}"/>
              </a:ext>
            </a:extLst>
          </p:cNvPr>
          <p:cNvSpPr txBox="1"/>
          <p:nvPr/>
        </p:nvSpPr>
        <p:spPr>
          <a:xfrm>
            <a:off x="8937523" y="6550223"/>
            <a:ext cx="8130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출처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Github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h8man/</a:t>
            </a:r>
            <a:r>
              <a:rPr lang="en-US" altLang="ko-KR" sz="1400" dirty="0" err="1">
                <a:solidFill>
                  <a:schemeClr val="accent2">
                    <a:lumMod val="50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NavMeshPlus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5487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7BCBF-DBF7-7A00-D036-E7102B65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8112D4-A3F3-3128-99BA-25D5644F4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678"/>
            <a:ext cx="12192000" cy="6801322"/>
          </a:xfrm>
          <a:prstGeom prst="rect">
            <a:avLst/>
          </a:prstGeom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ADFA602A-BFE8-112A-43E7-790C89048F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7DE6EC-E0B4-72E5-A9EA-66904643D9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CA3EFA-FE02-28F9-063C-5414464A5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0512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FED6768-D1C1-8AD7-58C9-B483C089617E}"/>
              </a:ext>
            </a:extLst>
          </p:cNvPr>
          <p:cNvSpPr/>
          <p:nvPr/>
        </p:nvSpPr>
        <p:spPr>
          <a:xfrm>
            <a:off x="10515600" y="209550"/>
            <a:ext cx="95250" cy="161925"/>
          </a:xfrm>
          <a:prstGeom prst="rect">
            <a:avLst/>
          </a:prstGeom>
          <a:solidFill>
            <a:srgbClr val="0F0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A5B8ED-0796-1978-7B2D-FE6C8AFBE6D1}"/>
              </a:ext>
            </a:extLst>
          </p:cNvPr>
          <p:cNvSpPr/>
          <p:nvPr/>
        </p:nvSpPr>
        <p:spPr>
          <a:xfrm>
            <a:off x="3677055" y="136186"/>
            <a:ext cx="4659549" cy="600413"/>
          </a:xfrm>
          <a:prstGeom prst="rect">
            <a:avLst/>
          </a:prstGeom>
          <a:solidFill>
            <a:srgbClr val="E6A6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810A0D-110B-51DB-1FDA-F230B00E3521}"/>
              </a:ext>
            </a:extLst>
          </p:cNvPr>
          <p:cNvSpPr txBox="1"/>
          <p:nvPr/>
        </p:nvSpPr>
        <p:spPr>
          <a:xfrm>
            <a:off x="5312331" y="224905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사용 기술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E6997F-86D6-A074-444F-5C995A6A8D25}"/>
              </a:ext>
            </a:extLst>
          </p:cNvPr>
          <p:cNvSpPr txBox="1"/>
          <p:nvPr/>
        </p:nvSpPr>
        <p:spPr>
          <a:xfrm>
            <a:off x="248206" y="1073350"/>
            <a:ext cx="610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ASP .NET Core</a:t>
            </a:r>
            <a:endParaRPr lang="ko-KR" altLang="en-US" sz="2800" dirty="0">
              <a:solidFill>
                <a:srgbClr val="FBF7CB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83DDCD-AA24-2C38-5393-B8AD92CE143A}"/>
              </a:ext>
            </a:extLst>
          </p:cNvPr>
          <p:cNvSpPr txBox="1"/>
          <p:nvPr/>
        </p:nvSpPr>
        <p:spPr>
          <a:xfrm>
            <a:off x="3139992" y="1104127"/>
            <a:ext cx="8270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게임 서버 구축 시 타 프레임워크 대비 우수한 성능의 프레임워크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D6FEF63-9A0D-ACBD-0FAB-E7A6C9916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98" y="2415703"/>
            <a:ext cx="4654910" cy="233139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1FA0FEA-C258-853A-C896-A2CAE1D584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4192" y="1920151"/>
            <a:ext cx="3924300" cy="37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60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587896-C019-03B1-B344-C41B8160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9FFD8A-F095-568D-E134-EE29447FE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EF92DA-7BCE-18C9-41C1-39B581F9EB96}"/>
              </a:ext>
            </a:extLst>
          </p:cNvPr>
          <p:cNvSpPr/>
          <p:nvPr/>
        </p:nvSpPr>
        <p:spPr>
          <a:xfrm>
            <a:off x="0" y="0"/>
            <a:ext cx="12192000" cy="1922561"/>
          </a:xfrm>
          <a:prstGeom prst="rect">
            <a:avLst/>
          </a:prstGeom>
          <a:solidFill>
            <a:srgbClr val="3F88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9D70A4A-DA84-3167-B2BA-0DE5A3D35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2561"/>
            <a:ext cx="12192000" cy="492128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D12A940-996C-8348-2135-8EA5AAB795C7}"/>
              </a:ext>
            </a:extLst>
          </p:cNvPr>
          <p:cNvSpPr/>
          <p:nvPr/>
        </p:nvSpPr>
        <p:spPr>
          <a:xfrm>
            <a:off x="0" y="0"/>
            <a:ext cx="1511300" cy="1922561"/>
          </a:xfrm>
          <a:prstGeom prst="rect">
            <a:avLst/>
          </a:prstGeom>
          <a:solidFill>
            <a:srgbClr val="3E89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5502B2-EAD8-BEC8-BBC4-CA70BDBCA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63" y="457168"/>
            <a:ext cx="533474" cy="447737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FDADF8-CCD1-EC7D-9755-4C94C4D713EA}"/>
              </a:ext>
            </a:extLst>
          </p:cNvPr>
          <p:cNvSpPr/>
          <p:nvPr/>
        </p:nvSpPr>
        <p:spPr>
          <a:xfrm>
            <a:off x="0" y="-14152"/>
            <a:ext cx="12192000" cy="6858000"/>
          </a:xfrm>
          <a:prstGeom prst="rect">
            <a:avLst/>
          </a:prstGeom>
          <a:solidFill>
            <a:srgbClr val="0F0E23">
              <a:alpha val="5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5297016-289D-E768-6AF1-141AD2178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0512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EA187D0-0A54-EEBB-EAF4-E80016E10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165905"/>
            <a:ext cx="1168400" cy="199220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65FEA6-E39C-8B84-90AB-BC37B4CF0965}"/>
              </a:ext>
            </a:extLst>
          </p:cNvPr>
          <p:cNvSpPr/>
          <p:nvPr/>
        </p:nvSpPr>
        <p:spPr>
          <a:xfrm>
            <a:off x="3677055" y="136186"/>
            <a:ext cx="4659549" cy="600413"/>
          </a:xfrm>
          <a:prstGeom prst="rect">
            <a:avLst/>
          </a:prstGeom>
          <a:solidFill>
            <a:srgbClr val="E6A6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30A6B9-20A8-8B17-4EC0-BA16B9E7EAEB}"/>
              </a:ext>
            </a:extLst>
          </p:cNvPr>
          <p:cNvSpPr txBox="1"/>
          <p:nvPr/>
        </p:nvSpPr>
        <p:spPr>
          <a:xfrm>
            <a:off x="5191523" y="205559"/>
            <a:ext cx="538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BF7C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시연 영상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EBCF50-741E-3EA6-EBA2-F509408A4FA1}"/>
              </a:ext>
            </a:extLst>
          </p:cNvPr>
          <p:cNvSpPr txBox="1"/>
          <p:nvPr/>
        </p:nvSpPr>
        <p:spPr>
          <a:xfrm>
            <a:off x="1593850" y="909014"/>
            <a:ext cx="99124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b="1" dirty="0">
                <a:solidFill>
                  <a:srgbClr val="FFF397"/>
                </a:solidFill>
                <a:latin typeface="Eras Bold ITC" panose="020B0907030504020204" pitchFamily="34" charset="0"/>
                <a:ea typeface="STXingkai" panose="020B0503020204020204" pitchFamily="2" charset="-122"/>
              </a:rPr>
              <a:t>Hero’s Harvest</a:t>
            </a:r>
            <a:endParaRPr lang="ko-KR" altLang="en-US" sz="9600" b="1" dirty="0">
              <a:solidFill>
                <a:srgbClr val="FFF397"/>
              </a:solidFill>
              <a:latin typeface="Eras Bold ITC" panose="020B0907030504020204" pitchFamily="34" charset="0"/>
              <a:ea typeface="HY얕은샘물M" panose="02030600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87B7D9-2EB2-666A-4511-41D87F890654}"/>
              </a:ext>
            </a:extLst>
          </p:cNvPr>
          <p:cNvSpPr txBox="1"/>
          <p:nvPr/>
        </p:nvSpPr>
        <p:spPr>
          <a:xfrm>
            <a:off x="8252079" y="2297474"/>
            <a:ext cx="333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FFF397"/>
                </a:solidFill>
                <a:latin typeface="Eras Bold ITC" panose="020B0907030504020204" pitchFamily="34" charset="0"/>
                <a:ea typeface="HY얕은샘물M" panose="02030600000101010101" pitchFamily="18" charset="-127"/>
              </a:rPr>
              <a:t>DEMO</a:t>
            </a:r>
            <a:endParaRPr lang="ko-KR" altLang="en-US" sz="2400" dirty="0">
              <a:solidFill>
                <a:srgbClr val="FFF397"/>
              </a:solidFill>
              <a:latin typeface="Eras Bold ITC" panose="020B0907030504020204" pitchFamily="34" charset="0"/>
              <a:ea typeface="HY얕은샘물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5F840-81E6-BDEB-3B49-739C15E349DF}"/>
              </a:ext>
            </a:extLst>
          </p:cNvPr>
          <p:cNvSpPr txBox="1"/>
          <p:nvPr/>
        </p:nvSpPr>
        <p:spPr>
          <a:xfrm>
            <a:off x="3016665" y="5201057"/>
            <a:ext cx="575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6"/>
              </a:rPr>
              <a:t>https://</a:t>
            </a:r>
            <a:r>
              <a:rPr lang="en-US" altLang="ko-KR" dirty="0" err="1">
                <a:hlinkClick r:id="rId6"/>
              </a:rPr>
              <a:t>www.youtube.com</a:t>
            </a:r>
            <a:r>
              <a:rPr lang="en-US" altLang="ko-KR" dirty="0">
                <a:hlinkClick r:id="rId6"/>
              </a:rPr>
              <a:t>/</a:t>
            </a:r>
            <a:r>
              <a:rPr lang="en-US" altLang="ko-KR" dirty="0" err="1">
                <a:hlinkClick r:id="rId6"/>
              </a:rPr>
              <a:t>watch?v</a:t>
            </a:r>
            <a:r>
              <a:rPr lang="en-US" altLang="ko-KR" dirty="0">
                <a:hlinkClick r:id="rId6"/>
              </a:rPr>
              <a:t>=</a:t>
            </a:r>
            <a:r>
              <a:rPr lang="en-US" altLang="ko-KR" dirty="0" err="1">
                <a:hlinkClick r:id="rId6"/>
              </a:rPr>
              <a:t>OZyQkHwtnyE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228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FA0FE5-F39A-BA5B-1ADA-A8C0C2AC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 descr="스크린샷, 그래픽 소프트웨어, PC 게임, 비디오 게임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B15B86-67C0-CA09-3990-7A6E8D627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3281" cy="6858000"/>
          </a:xfr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B18C7CD-867D-CB84-AB1B-9F89CF5D8C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5360F">
              <a:alpha val="5764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9E44B77-CADE-D83D-955F-4D02DAA22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626" y="1904803"/>
            <a:ext cx="6963747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62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210</Words>
  <Application>Microsoft Office PowerPoint</Application>
  <PresentationFormat>와이드스크린</PresentationFormat>
  <Paragraphs>70</Paragraphs>
  <Slides>12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Noto Sans KR Black</vt:lpstr>
      <vt:lpstr>맑은 고딕</vt:lpstr>
      <vt:lpstr>Arial</vt:lpstr>
      <vt:lpstr>Eras Bold ITC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고경빈</cp:lastModifiedBy>
  <cp:revision>9</cp:revision>
  <dcterms:created xsi:type="dcterms:W3CDTF">2025-10-15T02:44:54Z</dcterms:created>
  <dcterms:modified xsi:type="dcterms:W3CDTF">2025-11-12T07:09:59Z</dcterms:modified>
</cp:coreProperties>
</file>