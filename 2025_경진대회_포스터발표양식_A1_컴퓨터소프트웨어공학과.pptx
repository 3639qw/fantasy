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71" r:id="rId2"/>
  </p:sldIdLst>
  <p:sldSz cx="21383625" cy="30275213"/>
  <p:notesSz cx="6858000" cy="9144000"/>
  <p:defaultTextStyle>
    <a:defPPr>
      <a:defRPr lang="ko-KR"/>
    </a:defPPr>
    <a:lvl1pPr marL="0" algn="l" defTabSz="2950016" rtl="0" eaLnBrk="1" latinLnBrk="1" hangingPunct="1">
      <a:defRPr sz="5792" kern="1200">
        <a:solidFill>
          <a:schemeClr val="tx1"/>
        </a:solidFill>
        <a:latin typeface="+mn-lt"/>
        <a:ea typeface="+mn-ea"/>
        <a:cs typeface="+mn-cs"/>
      </a:defRPr>
    </a:lvl1pPr>
    <a:lvl2pPr marL="1475007" algn="l" defTabSz="2950016" rtl="0" eaLnBrk="1" latinLnBrk="1" hangingPunct="1">
      <a:defRPr sz="5792" kern="1200">
        <a:solidFill>
          <a:schemeClr val="tx1"/>
        </a:solidFill>
        <a:latin typeface="+mn-lt"/>
        <a:ea typeface="+mn-ea"/>
        <a:cs typeface="+mn-cs"/>
      </a:defRPr>
    </a:lvl2pPr>
    <a:lvl3pPr marL="2950016" algn="l" defTabSz="2950016" rtl="0" eaLnBrk="1" latinLnBrk="1" hangingPunct="1">
      <a:defRPr sz="5792" kern="1200">
        <a:solidFill>
          <a:schemeClr val="tx1"/>
        </a:solidFill>
        <a:latin typeface="+mn-lt"/>
        <a:ea typeface="+mn-ea"/>
        <a:cs typeface="+mn-cs"/>
      </a:defRPr>
    </a:lvl3pPr>
    <a:lvl4pPr marL="4425022" algn="l" defTabSz="2950016" rtl="0" eaLnBrk="1" latinLnBrk="1" hangingPunct="1">
      <a:defRPr sz="5792" kern="1200">
        <a:solidFill>
          <a:schemeClr val="tx1"/>
        </a:solidFill>
        <a:latin typeface="+mn-lt"/>
        <a:ea typeface="+mn-ea"/>
        <a:cs typeface="+mn-cs"/>
      </a:defRPr>
    </a:lvl4pPr>
    <a:lvl5pPr marL="5900029" algn="l" defTabSz="2950016" rtl="0" eaLnBrk="1" latinLnBrk="1" hangingPunct="1">
      <a:defRPr sz="5792" kern="1200">
        <a:solidFill>
          <a:schemeClr val="tx1"/>
        </a:solidFill>
        <a:latin typeface="+mn-lt"/>
        <a:ea typeface="+mn-ea"/>
        <a:cs typeface="+mn-cs"/>
      </a:defRPr>
    </a:lvl5pPr>
    <a:lvl6pPr marL="7375035" algn="l" defTabSz="2950016" rtl="0" eaLnBrk="1" latinLnBrk="1" hangingPunct="1">
      <a:defRPr sz="5792" kern="1200">
        <a:solidFill>
          <a:schemeClr val="tx1"/>
        </a:solidFill>
        <a:latin typeface="+mn-lt"/>
        <a:ea typeface="+mn-ea"/>
        <a:cs typeface="+mn-cs"/>
      </a:defRPr>
    </a:lvl6pPr>
    <a:lvl7pPr marL="8850044" algn="l" defTabSz="2950016" rtl="0" eaLnBrk="1" latinLnBrk="1" hangingPunct="1">
      <a:defRPr sz="5792" kern="1200">
        <a:solidFill>
          <a:schemeClr val="tx1"/>
        </a:solidFill>
        <a:latin typeface="+mn-lt"/>
        <a:ea typeface="+mn-ea"/>
        <a:cs typeface="+mn-cs"/>
      </a:defRPr>
    </a:lvl7pPr>
    <a:lvl8pPr marL="10325052" algn="l" defTabSz="2950016" rtl="0" eaLnBrk="1" latinLnBrk="1" hangingPunct="1">
      <a:defRPr sz="5792" kern="1200">
        <a:solidFill>
          <a:schemeClr val="tx1"/>
        </a:solidFill>
        <a:latin typeface="+mn-lt"/>
        <a:ea typeface="+mn-ea"/>
        <a:cs typeface="+mn-cs"/>
      </a:defRPr>
    </a:lvl8pPr>
    <a:lvl9pPr marL="11800059" algn="l" defTabSz="2950016" rtl="0" eaLnBrk="1" latinLnBrk="1" hangingPunct="1">
      <a:defRPr sz="579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36" userDrawn="1">
          <p15:clr>
            <a:srgbClr val="A4A3A4"/>
          </p15:clr>
        </p15:guide>
        <p15:guide id="2" pos="6735" userDrawn="1">
          <p15:clr>
            <a:srgbClr val="A4A3A4"/>
          </p15:clr>
        </p15:guide>
        <p15:guide id="3" pos="424" userDrawn="1">
          <p15:clr>
            <a:srgbClr val="A4A3A4"/>
          </p15:clr>
        </p15:guide>
        <p15:guide id="4" pos="1304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6EAA"/>
    <a:srgbClr val="FFFFFF"/>
    <a:srgbClr val="4BACC6"/>
    <a:srgbClr val="FFC34B"/>
    <a:srgbClr val="F7A400"/>
    <a:srgbClr val="F37413"/>
    <a:srgbClr val="F9E699"/>
    <a:srgbClr val="9CC57D"/>
    <a:srgbClr val="8EA604"/>
    <a:srgbClr val="2828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85" autoAdjust="0"/>
    <p:restoredTop sz="94746" autoAdjust="0"/>
  </p:normalViewPr>
  <p:slideViewPr>
    <p:cSldViewPr showGuides="1">
      <p:cViewPr>
        <p:scale>
          <a:sx n="33" d="100"/>
          <a:sy n="33" d="100"/>
        </p:scale>
        <p:origin x="378" y="-1458"/>
      </p:cViewPr>
      <p:guideLst>
        <p:guide orient="horz" pos="9536"/>
        <p:guide pos="6735"/>
        <p:guide pos="424"/>
        <p:guide pos="1304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100" d="100"/>
        <a:sy n="100" d="100"/>
      </p:scale>
      <p:origin x="0" y="20803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75A67-930C-4E92-A71E-AE4DD44D14DD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D11B17-461A-4354-B8E8-CB912E0EE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3559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46026" rtl="0" eaLnBrk="1" latinLnBrk="1" hangingPunct="1">
      <a:defRPr sz="848" kern="1200">
        <a:solidFill>
          <a:schemeClr val="tx1"/>
        </a:solidFill>
        <a:latin typeface="+mn-lt"/>
        <a:ea typeface="+mn-ea"/>
        <a:cs typeface="+mn-cs"/>
      </a:defRPr>
    </a:lvl1pPr>
    <a:lvl2pPr marL="323013" algn="l" defTabSz="646026" rtl="0" eaLnBrk="1" latinLnBrk="1" hangingPunct="1">
      <a:defRPr sz="848" kern="1200">
        <a:solidFill>
          <a:schemeClr val="tx1"/>
        </a:solidFill>
        <a:latin typeface="+mn-lt"/>
        <a:ea typeface="+mn-ea"/>
        <a:cs typeface="+mn-cs"/>
      </a:defRPr>
    </a:lvl2pPr>
    <a:lvl3pPr marL="646026" algn="l" defTabSz="646026" rtl="0" eaLnBrk="1" latinLnBrk="1" hangingPunct="1">
      <a:defRPr sz="848" kern="1200">
        <a:solidFill>
          <a:schemeClr val="tx1"/>
        </a:solidFill>
        <a:latin typeface="+mn-lt"/>
        <a:ea typeface="+mn-ea"/>
        <a:cs typeface="+mn-cs"/>
      </a:defRPr>
    </a:lvl3pPr>
    <a:lvl4pPr marL="969039" algn="l" defTabSz="646026" rtl="0" eaLnBrk="1" latinLnBrk="1" hangingPunct="1">
      <a:defRPr sz="848" kern="1200">
        <a:solidFill>
          <a:schemeClr val="tx1"/>
        </a:solidFill>
        <a:latin typeface="+mn-lt"/>
        <a:ea typeface="+mn-ea"/>
        <a:cs typeface="+mn-cs"/>
      </a:defRPr>
    </a:lvl4pPr>
    <a:lvl5pPr marL="1292054" algn="l" defTabSz="646026" rtl="0" eaLnBrk="1" latinLnBrk="1" hangingPunct="1">
      <a:defRPr sz="848" kern="1200">
        <a:solidFill>
          <a:schemeClr val="tx1"/>
        </a:solidFill>
        <a:latin typeface="+mn-lt"/>
        <a:ea typeface="+mn-ea"/>
        <a:cs typeface="+mn-cs"/>
      </a:defRPr>
    </a:lvl5pPr>
    <a:lvl6pPr marL="1615066" algn="l" defTabSz="646026" rtl="0" eaLnBrk="1" latinLnBrk="1" hangingPunct="1">
      <a:defRPr sz="848" kern="1200">
        <a:solidFill>
          <a:schemeClr val="tx1"/>
        </a:solidFill>
        <a:latin typeface="+mn-lt"/>
        <a:ea typeface="+mn-ea"/>
        <a:cs typeface="+mn-cs"/>
      </a:defRPr>
    </a:lvl6pPr>
    <a:lvl7pPr marL="1938080" algn="l" defTabSz="646026" rtl="0" eaLnBrk="1" latinLnBrk="1" hangingPunct="1">
      <a:defRPr sz="848" kern="1200">
        <a:solidFill>
          <a:schemeClr val="tx1"/>
        </a:solidFill>
        <a:latin typeface="+mn-lt"/>
        <a:ea typeface="+mn-ea"/>
        <a:cs typeface="+mn-cs"/>
      </a:defRPr>
    </a:lvl7pPr>
    <a:lvl8pPr marL="2261093" algn="l" defTabSz="646026" rtl="0" eaLnBrk="1" latinLnBrk="1" hangingPunct="1">
      <a:defRPr sz="848" kern="1200">
        <a:solidFill>
          <a:schemeClr val="tx1"/>
        </a:solidFill>
        <a:latin typeface="+mn-lt"/>
        <a:ea typeface="+mn-ea"/>
        <a:cs typeface="+mn-cs"/>
      </a:defRPr>
    </a:lvl8pPr>
    <a:lvl9pPr marL="2584107" algn="l" defTabSz="646026" rtl="0" eaLnBrk="1" latinLnBrk="1" hangingPunct="1">
      <a:defRPr sz="84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11B17-461A-4354-B8E8-CB912E0EE15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9199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BE54038C-C7A5-DF70-164D-A1560BD81914}"/>
              </a:ext>
            </a:extLst>
          </p:cNvPr>
          <p:cNvGrpSpPr/>
          <p:nvPr userDrawn="1"/>
        </p:nvGrpSpPr>
        <p:grpSpPr>
          <a:xfrm>
            <a:off x="0" y="30037286"/>
            <a:ext cx="21383626" cy="237927"/>
            <a:chOff x="7698" y="1"/>
            <a:chExt cx="32363652" cy="55516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8D7BA7F9-2FE2-459B-0C4D-1FAD48C85AB1}"/>
                </a:ext>
              </a:extLst>
            </p:cNvPr>
            <p:cNvSpPr/>
            <p:nvPr/>
          </p:nvSpPr>
          <p:spPr>
            <a:xfrm>
              <a:off x="10771260" y="1"/>
              <a:ext cx="21600090" cy="55516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402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80AA8ECC-4BF9-BE30-BD88-6DE5F2429749}"/>
                </a:ext>
              </a:extLst>
            </p:cNvPr>
            <p:cNvSpPr/>
            <p:nvPr/>
          </p:nvSpPr>
          <p:spPr>
            <a:xfrm>
              <a:off x="7698" y="1"/>
              <a:ext cx="21600090" cy="55516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402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89CA4F2C-FC5F-7C1F-3730-792D44BB09F7}"/>
                </a:ext>
              </a:extLst>
            </p:cNvPr>
            <p:cNvSpPr/>
            <p:nvPr/>
          </p:nvSpPr>
          <p:spPr>
            <a:xfrm>
              <a:off x="5399598" y="1"/>
              <a:ext cx="21600090" cy="55516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402"/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7319DEB0-06FE-61C4-83A1-E6DDEED2EAEB}"/>
              </a:ext>
            </a:extLst>
          </p:cNvPr>
          <p:cNvGrpSpPr/>
          <p:nvPr userDrawn="1"/>
        </p:nvGrpSpPr>
        <p:grpSpPr>
          <a:xfrm>
            <a:off x="-235" y="0"/>
            <a:ext cx="21384538" cy="4719954"/>
            <a:chOff x="-26762" y="-1"/>
            <a:chExt cx="30276505" cy="6673175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4A0017C-9D1D-44DD-D423-D10D6A6E6057}"/>
                </a:ext>
              </a:extLst>
            </p:cNvPr>
            <p:cNvSpPr/>
            <p:nvPr userDrawn="1"/>
          </p:nvSpPr>
          <p:spPr>
            <a:xfrm>
              <a:off x="-26135" y="-1"/>
              <a:ext cx="30275878" cy="6480000"/>
            </a:xfrm>
            <a:prstGeom prst="rect">
              <a:avLst/>
            </a:prstGeom>
            <a:solidFill>
              <a:srgbClr val="0D6E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402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F4D5095-DFAB-FCB4-5A66-FCFEACFF5485}"/>
                </a:ext>
              </a:extLst>
            </p:cNvPr>
            <p:cNvSpPr/>
            <p:nvPr/>
          </p:nvSpPr>
          <p:spPr>
            <a:xfrm>
              <a:off x="-26762" y="6199176"/>
              <a:ext cx="30275878" cy="473998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402"/>
            </a:p>
          </p:txBody>
        </p:sp>
      </p:grpSp>
    </p:spTree>
    <p:extLst>
      <p:ext uri="{BB962C8B-B14F-4D97-AF65-F5344CB8AC3E}">
        <p14:creationId xmlns:p14="http://schemas.microsoft.com/office/powerpoint/2010/main" val="2511551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36" userDrawn="1">
          <p15:clr>
            <a:srgbClr val="FBAE40"/>
          </p15:clr>
        </p15:guide>
        <p15:guide id="2" pos="673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8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11866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36" userDrawn="1">
          <p15:clr>
            <a:srgbClr val="FBAE40"/>
          </p15:clr>
        </p15:guide>
        <p15:guide id="2" pos="6735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AC176D51-4B99-102F-04CD-89BE9B269BC8}"/>
              </a:ext>
            </a:extLst>
          </p:cNvPr>
          <p:cNvSpPr/>
          <p:nvPr userDrawn="1"/>
        </p:nvSpPr>
        <p:spPr>
          <a:xfrm>
            <a:off x="10691813" y="5285114"/>
            <a:ext cx="0" cy="24189749"/>
          </a:xfrm>
          <a:custGeom>
            <a:avLst/>
            <a:gdLst>
              <a:gd name="connsiteX0" fmla="*/ 0 w 0"/>
              <a:gd name="connsiteY0" fmla="*/ 0 h 34355314"/>
              <a:gd name="connsiteX1" fmla="*/ 0 w 0"/>
              <a:gd name="connsiteY1" fmla="*/ 34355314 h 34355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34355314">
                <a:moveTo>
                  <a:pt x="0" y="0"/>
                </a:moveTo>
                <a:lnTo>
                  <a:pt x="0" y="34355314"/>
                </a:lnTo>
              </a:path>
            </a:pathLst>
          </a:custGeom>
          <a:noFill/>
          <a:ln w="9525">
            <a:solidFill>
              <a:schemeClr val="bg1">
                <a:lumMod val="85000"/>
              </a:schemeClr>
            </a:solidFill>
            <a:headEnd type="oval" w="sm" len="med"/>
            <a:tailEnd type="oval"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02"/>
          </a:p>
        </p:txBody>
      </p:sp>
    </p:spTree>
    <p:extLst>
      <p:ext uri="{BB962C8B-B14F-4D97-AF65-F5344CB8AC3E}">
        <p14:creationId xmlns:p14="http://schemas.microsoft.com/office/powerpoint/2010/main" val="1993999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36" userDrawn="1">
          <p15:clr>
            <a:srgbClr val="FBAE40"/>
          </p15:clr>
        </p15:guide>
        <p15:guide id="2" pos="673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7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AC176D51-4B99-102F-04CD-89BE9B269BC8}"/>
              </a:ext>
            </a:extLst>
          </p:cNvPr>
          <p:cNvSpPr/>
          <p:nvPr userDrawn="1"/>
        </p:nvSpPr>
        <p:spPr>
          <a:xfrm>
            <a:off x="10691813" y="5285114"/>
            <a:ext cx="0" cy="24189749"/>
          </a:xfrm>
          <a:custGeom>
            <a:avLst/>
            <a:gdLst>
              <a:gd name="connsiteX0" fmla="*/ 0 w 0"/>
              <a:gd name="connsiteY0" fmla="*/ 0 h 34355314"/>
              <a:gd name="connsiteX1" fmla="*/ 0 w 0"/>
              <a:gd name="connsiteY1" fmla="*/ 34355314 h 34355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34355314">
                <a:moveTo>
                  <a:pt x="0" y="0"/>
                </a:moveTo>
                <a:lnTo>
                  <a:pt x="0" y="34355314"/>
                </a:lnTo>
              </a:path>
            </a:pathLst>
          </a:custGeom>
          <a:noFill/>
          <a:ln w="9525">
            <a:solidFill>
              <a:schemeClr val="bg1">
                <a:lumMod val="85000"/>
              </a:schemeClr>
            </a:solidFill>
            <a:headEnd type="oval" w="sm" len="med"/>
            <a:tailEnd type="oval"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02"/>
          </a:p>
        </p:txBody>
      </p:sp>
    </p:spTree>
    <p:extLst>
      <p:ext uri="{BB962C8B-B14F-4D97-AF65-F5344CB8AC3E}">
        <p14:creationId xmlns:p14="http://schemas.microsoft.com/office/powerpoint/2010/main" val="219652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36" userDrawn="1">
          <p15:clr>
            <a:srgbClr val="FBAE40"/>
          </p15:clr>
        </p15:guide>
        <p15:guide id="2" pos="6735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86750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36" userDrawn="1">
          <p15:clr>
            <a:srgbClr val="FBAE40"/>
          </p15:clr>
        </p15:guide>
        <p15:guide id="2" pos="6735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2448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36" userDrawn="1">
          <p15:clr>
            <a:srgbClr val="FBAE40"/>
          </p15:clr>
        </p15:guide>
        <p15:guide id="2" pos="6735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069181" y="1212415"/>
            <a:ext cx="19245263" cy="5045868"/>
          </a:xfrm>
          <a:prstGeom prst="rect">
            <a:avLst/>
          </a:prstGeom>
        </p:spPr>
        <p:txBody>
          <a:bodyPr vert="horz" lIns="417635" tIns="208818" rIns="417635" bIns="208818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069181" y="7064223"/>
            <a:ext cx="19245263" cy="19980241"/>
          </a:xfrm>
          <a:prstGeom prst="rect">
            <a:avLst/>
          </a:prstGeom>
        </p:spPr>
        <p:txBody>
          <a:bodyPr vert="horz" lIns="417635" tIns="208818" rIns="417635" bIns="208818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1069185" y="28060641"/>
            <a:ext cx="4989513" cy="1611875"/>
          </a:xfrm>
          <a:prstGeom prst="rect">
            <a:avLst/>
          </a:prstGeom>
        </p:spPr>
        <p:txBody>
          <a:bodyPr vert="horz" lIns="417635" tIns="208818" rIns="417635" bIns="208818" rtlCol="0" anchor="ctr"/>
          <a:lstStyle>
            <a:lvl1pPr algn="l">
              <a:defRPr sz="36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D32EA-93D2-422C-9D50-DCDFD5662F59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7306075" y="28060641"/>
            <a:ext cx="6771481" cy="1611875"/>
          </a:xfrm>
          <a:prstGeom prst="rect">
            <a:avLst/>
          </a:prstGeom>
        </p:spPr>
        <p:txBody>
          <a:bodyPr vert="horz" lIns="417635" tIns="208818" rIns="417635" bIns="208818" rtlCol="0" anchor="ctr"/>
          <a:lstStyle>
            <a:lvl1pPr algn="ctr">
              <a:defRPr sz="36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5324936" y="28060641"/>
            <a:ext cx="4989513" cy="1611875"/>
          </a:xfrm>
          <a:prstGeom prst="rect">
            <a:avLst/>
          </a:prstGeom>
        </p:spPr>
        <p:txBody>
          <a:bodyPr vert="horz" lIns="417635" tIns="208818" rIns="417635" bIns="208818" rtlCol="0" anchor="ctr"/>
          <a:lstStyle>
            <a:lvl1pPr algn="r">
              <a:defRPr sz="36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A678E-E807-4BC3-8392-26D7FE55F7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9511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2" r:id="rId3"/>
    <p:sldLayoutId id="2147483663" r:id="rId4"/>
    <p:sldLayoutId id="2147483659" r:id="rId5"/>
    <p:sldLayoutId id="2147483660" r:id="rId6"/>
  </p:sldLayoutIdLst>
  <p:txStyles>
    <p:titleStyle>
      <a:lvl1pPr algn="ctr" defTabSz="2777100" rtl="0" eaLnBrk="1" latinLnBrk="1" hangingPunct="1">
        <a:spcBef>
          <a:spcPct val="0"/>
        </a:spcBef>
        <a:buNone/>
        <a:defRPr sz="1336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41412" indent="-1041412" algn="l" defTabSz="2777100" rtl="0" eaLnBrk="1" latinLnBrk="1" hangingPunct="1">
        <a:spcBef>
          <a:spcPct val="20000"/>
        </a:spcBef>
        <a:buFont typeface="Arial" pitchFamily="34" charset="0"/>
        <a:buChar char="•"/>
        <a:defRPr sz="9708" kern="1200">
          <a:solidFill>
            <a:schemeClr val="tx1"/>
          </a:solidFill>
          <a:latin typeface="+mn-lt"/>
          <a:ea typeface="+mn-ea"/>
          <a:cs typeface="+mn-cs"/>
        </a:defRPr>
      </a:lvl1pPr>
      <a:lvl2pPr marL="2256393" indent="-867844" algn="l" defTabSz="2777100" rtl="0" eaLnBrk="1" latinLnBrk="1" hangingPunct="1">
        <a:spcBef>
          <a:spcPct val="20000"/>
        </a:spcBef>
        <a:buFont typeface="Arial" pitchFamily="34" charset="0"/>
        <a:buChar char="–"/>
        <a:defRPr sz="8445" kern="1200">
          <a:solidFill>
            <a:schemeClr val="tx1"/>
          </a:solidFill>
          <a:latin typeface="+mn-lt"/>
          <a:ea typeface="+mn-ea"/>
          <a:cs typeface="+mn-cs"/>
        </a:defRPr>
      </a:lvl2pPr>
      <a:lvl3pPr marL="3471373" indent="-694276" algn="l" defTabSz="2777100" rtl="0" eaLnBrk="1" latinLnBrk="1" hangingPunct="1">
        <a:spcBef>
          <a:spcPct val="20000"/>
        </a:spcBef>
        <a:buFont typeface="Arial" pitchFamily="34" charset="0"/>
        <a:buChar char="•"/>
        <a:defRPr sz="7314" kern="1200">
          <a:solidFill>
            <a:schemeClr val="tx1"/>
          </a:solidFill>
          <a:latin typeface="+mn-lt"/>
          <a:ea typeface="+mn-ea"/>
          <a:cs typeface="+mn-cs"/>
        </a:defRPr>
      </a:lvl3pPr>
      <a:lvl4pPr marL="4859922" indent="-694276" algn="l" defTabSz="2777100" rtl="0" eaLnBrk="1" latinLnBrk="1" hangingPunct="1">
        <a:spcBef>
          <a:spcPct val="20000"/>
        </a:spcBef>
        <a:buFont typeface="Arial" pitchFamily="34" charset="0"/>
        <a:buChar char="–"/>
        <a:defRPr sz="6052" kern="1200">
          <a:solidFill>
            <a:schemeClr val="tx1"/>
          </a:solidFill>
          <a:latin typeface="+mn-lt"/>
          <a:ea typeface="+mn-ea"/>
          <a:cs typeface="+mn-cs"/>
        </a:defRPr>
      </a:lvl4pPr>
      <a:lvl5pPr marL="6248472" indent="-694276" algn="l" defTabSz="2777100" rtl="0" eaLnBrk="1" latinLnBrk="1" hangingPunct="1">
        <a:spcBef>
          <a:spcPct val="20000"/>
        </a:spcBef>
        <a:buFont typeface="Arial" pitchFamily="34" charset="0"/>
        <a:buChar char="»"/>
        <a:defRPr sz="6052" kern="1200">
          <a:solidFill>
            <a:schemeClr val="tx1"/>
          </a:solidFill>
          <a:latin typeface="+mn-lt"/>
          <a:ea typeface="+mn-ea"/>
          <a:cs typeface="+mn-cs"/>
        </a:defRPr>
      </a:lvl5pPr>
      <a:lvl6pPr marL="7637023" indent="-694276" algn="l" defTabSz="2777100" rtl="0" eaLnBrk="1" latinLnBrk="1" hangingPunct="1">
        <a:spcBef>
          <a:spcPct val="20000"/>
        </a:spcBef>
        <a:buFont typeface="Arial" pitchFamily="34" charset="0"/>
        <a:buChar char="•"/>
        <a:defRPr sz="6052" kern="1200">
          <a:solidFill>
            <a:schemeClr val="tx1"/>
          </a:solidFill>
          <a:latin typeface="+mn-lt"/>
          <a:ea typeface="+mn-ea"/>
          <a:cs typeface="+mn-cs"/>
        </a:defRPr>
      </a:lvl6pPr>
      <a:lvl7pPr marL="9025573" indent="-694276" algn="l" defTabSz="2777100" rtl="0" eaLnBrk="1" latinLnBrk="1" hangingPunct="1">
        <a:spcBef>
          <a:spcPct val="20000"/>
        </a:spcBef>
        <a:buFont typeface="Arial" pitchFamily="34" charset="0"/>
        <a:buChar char="•"/>
        <a:defRPr sz="6052" kern="1200">
          <a:solidFill>
            <a:schemeClr val="tx1"/>
          </a:solidFill>
          <a:latin typeface="+mn-lt"/>
          <a:ea typeface="+mn-ea"/>
          <a:cs typeface="+mn-cs"/>
        </a:defRPr>
      </a:lvl7pPr>
      <a:lvl8pPr marL="10414122" indent="-694276" algn="l" defTabSz="2777100" rtl="0" eaLnBrk="1" latinLnBrk="1" hangingPunct="1">
        <a:spcBef>
          <a:spcPct val="20000"/>
        </a:spcBef>
        <a:buFont typeface="Arial" pitchFamily="34" charset="0"/>
        <a:buChar char="•"/>
        <a:defRPr sz="6052" kern="1200">
          <a:solidFill>
            <a:schemeClr val="tx1"/>
          </a:solidFill>
          <a:latin typeface="+mn-lt"/>
          <a:ea typeface="+mn-ea"/>
          <a:cs typeface="+mn-cs"/>
        </a:defRPr>
      </a:lvl8pPr>
      <a:lvl9pPr marL="11802670" indent="-694276" algn="l" defTabSz="2777100" rtl="0" eaLnBrk="1" latinLnBrk="1" hangingPunct="1">
        <a:spcBef>
          <a:spcPct val="20000"/>
        </a:spcBef>
        <a:buFont typeface="Arial" pitchFamily="34" charset="0"/>
        <a:buChar char="•"/>
        <a:defRPr sz="60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2777100" rtl="0" eaLnBrk="1" latinLnBrk="1" hangingPunct="1">
        <a:defRPr sz="5452" kern="1200">
          <a:solidFill>
            <a:schemeClr val="tx1"/>
          </a:solidFill>
          <a:latin typeface="+mn-lt"/>
          <a:ea typeface="+mn-ea"/>
          <a:cs typeface="+mn-cs"/>
        </a:defRPr>
      </a:lvl1pPr>
      <a:lvl2pPr marL="1388549" algn="l" defTabSz="2777100" rtl="0" eaLnBrk="1" latinLnBrk="1" hangingPunct="1">
        <a:defRPr sz="5452" kern="1200">
          <a:solidFill>
            <a:schemeClr val="tx1"/>
          </a:solidFill>
          <a:latin typeface="+mn-lt"/>
          <a:ea typeface="+mn-ea"/>
          <a:cs typeface="+mn-cs"/>
        </a:defRPr>
      </a:lvl2pPr>
      <a:lvl3pPr marL="2777100" algn="l" defTabSz="2777100" rtl="0" eaLnBrk="1" latinLnBrk="1" hangingPunct="1">
        <a:defRPr sz="5452" kern="1200">
          <a:solidFill>
            <a:schemeClr val="tx1"/>
          </a:solidFill>
          <a:latin typeface="+mn-lt"/>
          <a:ea typeface="+mn-ea"/>
          <a:cs typeface="+mn-cs"/>
        </a:defRPr>
      </a:lvl3pPr>
      <a:lvl4pPr marL="4165649" algn="l" defTabSz="2777100" rtl="0" eaLnBrk="1" latinLnBrk="1" hangingPunct="1">
        <a:defRPr sz="5452" kern="1200">
          <a:solidFill>
            <a:schemeClr val="tx1"/>
          </a:solidFill>
          <a:latin typeface="+mn-lt"/>
          <a:ea typeface="+mn-ea"/>
          <a:cs typeface="+mn-cs"/>
        </a:defRPr>
      </a:lvl4pPr>
      <a:lvl5pPr marL="5554197" algn="l" defTabSz="2777100" rtl="0" eaLnBrk="1" latinLnBrk="1" hangingPunct="1">
        <a:defRPr sz="5452" kern="1200">
          <a:solidFill>
            <a:schemeClr val="tx1"/>
          </a:solidFill>
          <a:latin typeface="+mn-lt"/>
          <a:ea typeface="+mn-ea"/>
          <a:cs typeface="+mn-cs"/>
        </a:defRPr>
      </a:lvl5pPr>
      <a:lvl6pPr marL="6942747" algn="l" defTabSz="2777100" rtl="0" eaLnBrk="1" latinLnBrk="1" hangingPunct="1">
        <a:defRPr sz="5452" kern="1200">
          <a:solidFill>
            <a:schemeClr val="tx1"/>
          </a:solidFill>
          <a:latin typeface="+mn-lt"/>
          <a:ea typeface="+mn-ea"/>
          <a:cs typeface="+mn-cs"/>
        </a:defRPr>
      </a:lvl6pPr>
      <a:lvl7pPr marL="8331298" algn="l" defTabSz="2777100" rtl="0" eaLnBrk="1" latinLnBrk="1" hangingPunct="1">
        <a:defRPr sz="5452" kern="1200">
          <a:solidFill>
            <a:schemeClr val="tx1"/>
          </a:solidFill>
          <a:latin typeface="+mn-lt"/>
          <a:ea typeface="+mn-ea"/>
          <a:cs typeface="+mn-cs"/>
        </a:defRPr>
      </a:lvl7pPr>
      <a:lvl8pPr marL="9719847" algn="l" defTabSz="2777100" rtl="0" eaLnBrk="1" latinLnBrk="1" hangingPunct="1">
        <a:defRPr sz="5452" kern="1200">
          <a:solidFill>
            <a:schemeClr val="tx1"/>
          </a:solidFill>
          <a:latin typeface="+mn-lt"/>
          <a:ea typeface="+mn-ea"/>
          <a:cs typeface="+mn-cs"/>
        </a:defRPr>
      </a:lvl8pPr>
      <a:lvl9pPr marL="11108396" algn="l" defTabSz="2777100" rtl="0" eaLnBrk="1" latinLnBrk="1" hangingPunct="1">
        <a:defRPr sz="54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536" userDrawn="1">
          <p15:clr>
            <a:srgbClr val="F26B43"/>
          </p15:clr>
        </p15:guide>
        <p15:guide id="2" pos="673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35208259-8491-FAA0-62E5-64D2BDD2D759}"/>
              </a:ext>
            </a:extLst>
          </p:cNvPr>
          <p:cNvSpPr/>
          <p:nvPr/>
        </p:nvSpPr>
        <p:spPr>
          <a:xfrm>
            <a:off x="686376" y="6059516"/>
            <a:ext cx="9723171" cy="5554531"/>
          </a:xfrm>
          <a:prstGeom prst="rect">
            <a:avLst/>
          </a:prstGeom>
        </p:spPr>
        <p:txBody>
          <a:bodyPr wrap="square" lIns="70735" tIns="35368" rIns="70735" bIns="35368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현대의 농사 시뮬레이션 게임들은 농사와 경영 요소는 충실하지만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전투나 탐험과 같은 액션 요소가 부족한 경우가 많다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. 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반대로 </a:t>
            </a:r>
            <a:r>
              <a:rPr lang="ko-KR" altLang="en-US" sz="2000" spc="-15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샌드박스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전투 게임은 자유도와 전투 중심의 플레이를 제공하지만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자원 관리나 성장 요소가 제한적이라는 한계가 있다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.</a:t>
            </a:r>
          </a:p>
          <a:p>
            <a:pPr marL="0" lvl="1">
              <a:lnSpc>
                <a:spcPct val="120000"/>
              </a:lnSpc>
            </a:pPr>
            <a:r>
              <a:rPr lang="en-US" altLang="ko-KR" sz="2000" b="1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Hero’s Harvest 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는 이러한 두 장르의 장점을 결합하여 농사 시뮬레이션과 전투 시스템이 조화된 새로운 형태의 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2D 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픽셀 게임을 구현한 작품이다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.</a:t>
            </a:r>
          </a:p>
          <a:p>
            <a:pPr marL="0" lvl="1">
              <a:lnSpc>
                <a:spcPct val="120000"/>
              </a:lnSpc>
            </a:pPr>
            <a:endParaRPr lang="en-US" altLang="ko-KR" sz="2000" b="1" spc="-15" dirty="0">
              <a:ln>
                <a:solidFill>
                  <a:schemeClr val="accent1">
                    <a:alpha val="0"/>
                  </a:schemeClr>
                </a:solidFill>
              </a:ln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  <a:p>
            <a:pPr marL="0" lvl="1">
              <a:lnSpc>
                <a:spcPct val="120000"/>
              </a:lnSpc>
            </a:pP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플레이어는 작은 농장을 기반으로 작물을 재배하고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수확물을 활용해 장비와 아이템을 제작하며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주변 지역을 탐험해 </a:t>
            </a:r>
            <a:r>
              <a:rPr lang="ko-KR" altLang="en-US" sz="2000" spc="-15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몬스터들과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전투를 벌이게 된다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. 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이를 통해 농사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-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탐험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-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전투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-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성장이 유기적으로 연결되는 순환형 플레이 구조를 제공한다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.</a:t>
            </a:r>
          </a:p>
          <a:p>
            <a:pPr marL="0" lvl="1">
              <a:lnSpc>
                <a:spcPct val="120000"/>
              </a:lnSpc>
            </a:pPr>
            <a:endParaRPr lang="en-US" altLang="ko-KR" sz="2000" spc="-15" dirty="0">
              <a:ln>
                <a:solidFill>
                  <a:schemeClr val="accent1">
                    <a:alpha val="0"/>
                  </a:schemeClr>
                </a:solidFill>
              </a:ln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  <a:p>
            <a:pPr marL="0" lvl="1">
              <a:lnSpc>
                <a:spcPct val="120000"/>
              </a:lnSpc>
            </a:pP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게임은 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Unity 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엔진을 활용하여 픽셀 아트 감성의 그래픽과 부드러운 애니메이션을 구현하였으며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서버는 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ASP.NET core</a:t>
            </a:r>
          </a:p>
          <a:p>
            <a:pPr marL="0" lvl="1">
              <a:lnSpc>
                <a:spcPct val="120000"/>
              </a:lnSpc>
            </a:pP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기존 농사 시뮬레이션 게임은 전투 요소가 부족하고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2000" spc="-15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샌드박스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게임은 농사 시스템이 미비하다는 한계가 있었다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. 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본게임은 두 장르의 장점을 결합하여 농사와 전투 요소를 모두 충족시키는 새로운 형태의 게임을 구현하는 것을 목표로 한다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894DC3C-BAAE-2877-0E28-8D8DA7A425BE}"/>
              </a:ext>
            </a:extLst>
          </p:cNvPr>
          <p:cNvSpPr/>
          <p:nvPr/>
        </p:nvSpPr>
        <p:spPr>
          <a:xfrm>
            <a:off x="10974078" y="23071274"/>
            <a:ext cx="9723172" cy="1643396"/>
          </a:xfrm>
          <a:prstGeom prst="rect">
            <a:avLst/>
          </a:prstGeom>
        </p:spPr>
        <p:txBody>
          <a:bodyPr wrap="square" lIns="70735" tIns="35368" rIns="70735" bIns="35368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ko-KR" altLang="en-US" sz="3390" b="1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 ExtraBold" pitchFamily="50" charset="-127"/>
                <a:ea typeface="나눔고딕 ExtraBold" pitchFamily="50" charset="-127"/>
              </a:rPr>
              <a:t>참고문헌</a:t>
            </a:r>
            <a:endParaRPr lang="en-US" altLang="ko-KR" sz="3390" b="1" dirty="0">
              <a:ln>
                <a:solidFill>
                  <a:schemeClr val="accent1">
                    <a:alpha val="0"/>
                  </a:schemeClr>
                </a:solidFill>
              </a:ln>
              <a:latin typeface="나눔고딕 ExtraBold" pitchFamily="50" charset="-127"/>
              <a:ea typeface="나눔고딕 ExtraBold" pitchFamily="50" charset="-127"/>
            </a:endParaRPr>
          </a:p>
          <a:p>
            <a:pPr marL="362728" lvl="1" indent="-362728">
              <a:lnSpc>
                <a:spcPct val="120000"/>
              </a:lnSpc>
              <a:buAutoNum type="arabicPeriod"/>
            </a:pPr>
            <a:r>
              <a:rPr lang="en-US" altLang="ko-KR" sz="18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Microsoft Documentation – ASP.NET Core Overview</a:t>
            </a:r>
          </a:p>
          <a:p>
            <a:pPr marL="362728" lvl="1" indent="-362728">
              <a:lnSpc>
                <a:spcPct val="120000"/>
              </a:lnSpc>
              <a:buAutoNum type="arabicPeriod"/>
            </a:pPr>
            <a:r>
              <a:rPr lang="en-US" altLang="ko-KR" sz="18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Unity Technologies – </a:t>
            </a:r>
            <a:r>
              <a:rPr lang="en-US" altLang="ko-KR" sz="1800" spc="-15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NavMesh</a:t>
            </a:r>
            <a:r>
              <a:rPr lang="en-US" altLang="ko-KR" sz="18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Plus Documentation</a:t>
            </a:r>
          </a:p>
          <a:p>
            <a:pPr marL="362728" lvl="1" indent="-362728">
              <a:lnSpc>
                <a:spcPct val="120000"/>
              </a:lnSpc>
              <a:buAutoNum type="arabicPeriod"/>
            </a:pPr>
            <a:r>
              <a:rPr lang="en-US" altLang="ko-KR" sz="18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Unity Manual – Finite State Machine (FSM) Implementation Guide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4A8E569-8E4B-9151-4179-DD444B8B5A70}"/>
              </a:ext>
            </a:extLst>
          </p:cNvPr>
          <p:cNvSpPr/>
          <p:nvPr/>
        </p:nvSpPr>
        <p:spPr>
          <a:xfrm>
            <a:off x="10974082" y="8918746"/>
            <a:ext cx="9723173" cy="2230544"/>
          </a:xfrm>
          <a:prstGeom prst="rect">
            <a:avLst/>
          </a:prstGeom>
        </p:spPr>
        <p:txBody>
          <a:bodyPr wrap="square" lIns="70735" tIns="35368" rIns="70735" bIns="35368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en-US" altLang="ko-KR" sz="2000" b="1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ASP</a:t>
            </a:r>
            <a:r>
              <a:rPr lang="ko-KR" altLang="en-US" sz="2000" b="1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</a:t>
            </a:r>
            <a:r>
              <a:rPr lang="en-US" altLang="ko-KR" sz="2000" b="1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.NET</a:t>
            </a:r>
            <a:r>
              <a:rPr lang="ko-KR" altLang="en-US" sz="2000" b="1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</a:t>
            </a:r>
            <a:r>
              <a:rPr lang="en-US" altLang="ko-KR" sz="2000" b="1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Core</a:t>
            </a:r>
          </a:p>
          <a:p>
            <a:pPr marL="0" lvl="1">
              <a:lnSpc>
                <a:spcPct val="120000"/>
              </a:lnSpc>
            </a:pP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마이크로소프트에서 개발한 웹 애플리케이션 및 웹 서비스 구축용 프레임 워크</a:t>
            </a:r>
            <a:endParaRPr lang="en-US" altLang="ko-KR" sz="2000" spc="-15" dirty="0">
              <a:ln>
                <a:solidFill>
                  <a:schemeClr val="accent1">
                    <a:alpha val="0"/>
                  </a:schemeClr>
                </a:solidFill>
              </a:ln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  <a:p>
            <a:pPr marL="0" lvl="1">
              <a:lnSpc>
                <a:spcPct val="120000"/>
              </a:lnSpc>
            </a:pP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대규모 데이터 처리 및 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HTTP 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요청 처리 속도가 빠른 점이 있다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.</a:t>
            </a:r>
          </a:p>
          <a:p>
            <a:pPr marL="0" lvl="1">
              <a:lnSpc>
                <a:spcPct val="120000"/>
              </a:lnSpc>
            </a:pP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게임 서버 구축 시 타 프레임워크 대비 우수한 성능을 제공한다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.</a:t>
            </a:r>
          </a:p>
          <a:p>
            <a:pPr marL="0" lvl="1">
              <a:lnSpc>
                <a:spcPct val="120000"/>
              </a:lnSpc>
            </a:pP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Restful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API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개발과 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MVC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패턴 기반의 웹 애플리케이션 개발을 단일 환경에서 지원한다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.</a:t>
            </a:r>
          </a:p>
          <a:p>
            <a:pPr marL="0" lvl="1">
              <a:lnSpc>
                <a:spcPct val="120000"/>
              </a:lnSpc>
            </a:pP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필요한 기능만을 선택적으로 사용하여 </a:t>
            </a:r>
            <a:r>
              <a:rPr lang="ko-KR" altLang="en-US" sz="2000" spc="-15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경량화된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애플리케이션 구축이 가능하다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79" name="직사각형 278">
            <a:extLst>
              <a:ext uri="{FF2B5EF4-FFF2-40B4-BE49-F238E27FC236}">
                <a16:creationId xmlns:a16="http://schemas.microsoft.com/office/drawing/2014/main" id="{16B7D3A3-CF1E-E93D-336B-008C669E04FE}"/>
              </a:ext>
            </a:extLst>
          </p:cNvPr>
          <p:cNvSpPr/>
          <p:nvPr/>
        </p:nvSpPr>
        <p:spPr>
          <a:xfrm>
            <a:off x="686377" y="15144020"/>
            <a:ext cx="9723171" cy="4098042"/>
          </a:xfrm>
          <a:prstGeom prst="rect">
            <a:avLst/>
          </a:prstGeom>
        </p:spPr>
        <p:txBody>
          <a:bodyPr wrap="square" lIns="70735" tIns="35368" rIns="70735" bIns="35368">
            <a:spAutoFit/>
          </a:bodyPr>
          <a:lstStyle/>
          <a:p>
            <a:pPr marL="457200" lvl="1" indent="-457200">
              <a:lnSpc>
                <a:spcPct val="120000"/>
              </a:lnSpc>
              <a:buAutoNum type="arabicPeriod"/>
            </a:pPr>
            <a:r>
              <a:rPr lang="ko-KR" altLang="en-US" sz="2000" b="1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전투 시스템 </a:t>
            </a:r>
            <a:endParaRPr lang="en-US" altLang="ko-KR" sz="2000" b="1" spc="-15" dirty="0">
              <a:ln>
                <a:solidFill>
                  <a:schemeClr val="accent1">
                    <a:alpha val="0"/>
                  </a:schemeClr>
                </a:solidFill>
              </a:ln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  <a:p>
            <a:pPr marL="0" lvl="1">
              <a:lnSpc>
                <a:spcPct val="120000"/>
              </a:lnSpc>
            </a:pP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전투 시스템은 게임의 핵심 재미 요소로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플레이어는 다양한 무기와 마법 스킬을 활용하여 몬스터와 싸운다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.</a:t>
            </a:r>
          </a:p>
          <a:p>
            <a:pPr marL="0" lvl="1">
              <a:lnSpc>
                <a:spcPct val="120000"/>
              </a:lnSpc>
            </a:pP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몬스터는 지역별 특성에 따라 공격 패턴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속성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난이도가 달라지며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플레이어는 자신이 재배한 작물로 제작한 아이템이나 </a:t>
            </a:r>
            <a:r>
              <a:rPr lang="ko-KR" altLang="en-US" sz="2000" spc="-15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포션을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사용해 효율적으로 싸울 수 있다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.</a:t>
            </a:r>
          </a:p>
          <a:p>
            <a:pPr marL="0" lvl="1">
              <a:lnSpc>
                <a:spcPct val="120000"/>
              </a:lnSpc>
            </a:pPr>
            <a:r>
              <a:rPr lang="en-US" altLang="ko-KR" sz="2000" b="1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• </a:t>
            </a:r>
            <a:r>
              <a:rPr lang="ko-KR" altLang="en-US" sz="2000" b="1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동작 제어 패턴</a:t>
            </a:r>
            <a:endParaRPr lang="en-US" altLang="ko-KR" sz="2000" b="1" spc="-15" dirty="0">
              <a:ln>
                <a:solidFill>
                  <a:schemeClr val="accent1">
                    <a:alpha val="0"/>
                  </a:schemeClr>
                </a:solidFill>
              </a:ln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  <a:p>
            <a:pPr marL="0" lvl="1">
              <a:lnSpc>
                <a:spcPct val="120000"/>
              </a:lnSpc>
            </a:pP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FSM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구조를 사용하여 몬스터의 순찰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탐색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공격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회피 등의 행동을 상태별로 제어하였다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.</a:t>
            </a:r>
          </a:p>
          <a:p>
            <a:pPr marL="0" lvl="1">
              <a:lnSpc>
                <a:spcPct val="120000"/>
              </a:lnSpc>
            </a:pPr>
            <a:r>
              <a:rPr lang="en-US" altLang="ko-KR" sz="2000" b="1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• </a:t>
            </a:r>
            <a:r>
              <a:rPr lang="ko-KR" altLang="en-US" sz="2000" b="1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무기 및 스킬 다양화</a:t>
            </a:r>
            <a:endParaRPr lang="en-US" altLang="ko-KR" sz="2000" b="1" spc="-15" dirty="0">
              <a:ln>
                <a:solidFill>
                  <a:schemeClr val="accent1">
                    <a:alpha val="0"/>
                  </a:schemeClr>
                </a:solidFill>
              </a:ln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  <a:p>
            <a:pPr marL="0" lvl="1">
              <a:lnSpc>
                <a:spcPct val="120000"/>
              </a:lnSpc>
            </a:pP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근접 무기부터 원거리 무기까지 다양한 전투 방식을 제공하며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공격 속도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·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범위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·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효과가 다른 무기를 통해 플레이어는 자신만의 전투 스타일을 구축할 수 있다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.</a:t>
            </a:r>
          </a:p>
          <a:p>
            <a:pPr marL="0" lvl="1">
              <a:lnSpc>
                <a:spcPct val="120000"/>
              </a:lnSpc>
            </a:pPr>
            <a:endParaRPr lang="en-US" altLang="ko-KR" sz="2000" b="1" spc="-15" dirty="0">
              <a:ln>
                <a:solidFill>
                  <a:schemeClr val="accent1">
                    <a:alpha val="0"/>
                  </a:schemeClr>
                </a:solidFill>
              </a:ln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</p:txBody>
      </p:sp>
      <p:sp>
        <p:nvSpPr>
          <p:cNvPr id="283" name="사각형: 둥근 모서리 282">
            <a:extLst>
              <a:ext uri="{FF2B5EF4-FFF2-40B4-BE49-F238E27FC236}">
                <a16:creationId xmlns:a16="http://schemas.microsoft.com/office/drawing/2014/main" id="{1BB9E046-692C-0FBC-C641-5E7FED758EA7}"/>
              </a:ext>
            </a:extLst>
          </p:cNvPr>
          <p:cNvSpPr/>
          <p:nvPr/>
        </p:nvSpPr>
        <p:spPr>
          <a:xfrm>
            <a:off x="688578" y="5265168"/>
            <a:ext cx="9724290" cy="761695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3897" rIns="253897" rtlCol="0" anchor="ctr"/>
          <a:lstStyle/>
          <a:p>
            <a:pPr defTabSz="2190186">
              <a:defRPr/>
            </a:pPr>
            <a:r>
              <a:rPr lang="ko-KR" altLang="en-US" sz="43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개요</a:t>
            </a:r>
            <a:endParaRPr lang="en-US" altLang="ko-KR" sz="43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286" name="사각형: 둥근 모서리 285">
            <a:extLst>
              <a:ext uri="{FF2B5EF4-FFF2-40B4-BE49-F238E27FC236}">
                <a16:creationId xmlns:a16="http://schemas.microsoft.com/office/drawing/2014/main" id="{50F4F420-F5D2-5D8E-81C1-DA59CC503B5D}"/>
              </a:ext>
            </a:extLst>
          </p:cNvPr>
          <p:cNvSpPr/>
          <p:nvPr/>
        </p:nvSpPr>
        <p:spPr>
          <a:xfrm>
            <a:off x="688578" y="11956961"/>
            <a:ext cx="9724290" cy="761695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3897" rIns="253897" rtlCol="0" anchor="ctr"/>
          <a:lstStyle/>
          <a:p>
            <a:pPr defTabSz="2190186"/>
            <a:r>
              <a:rPr lang="ko-KR" altLang="en-US" sz="43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구성 요소</a:t>
            </a:r>
            <a:r>
              <a:rPr lang="en-US" altLang="ko-KR" sz="43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 </a:t>
            </a:r>
          </a:p>
        </p:txBody>
      </p:sp>
      <p:sp>
        <p:nvSpPr>
          <p:cNvPr id="292" name="사각형: 둥근 모서리 291">
            <a:extLst>
              <a:ext uri="{FF2B5EF4-FFF2-40B4-BE49-F238E27FC236}">
                <a16:creationId xmlns:a16="http://schemas.microsoft.com/office/drawing/2014/main" id="{92D1E055-E015-2E7E-39EA-2D39F55767D8}"/>
              </a:ext>
            </a:extLst>
          </p:cNvPr>
          <p:cNvSpPr/>
          <p:nvPr/>
        </p:nvSpPr>
        <p:spPr>
          <a:xfrm>
            <a:off x="10978592" y="5265168"/>
            <a:ext cx="9724290" cy="761695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3897" rIns="253897" rtlCol="0" anchor="ctr"/>
          <a:lstStyle/>
          <a:p>
            <a:pPr defTabSz="2190186"/>
            <a:r>
              <a:rPr lang="ko-KR" altLang="en-US" sz="43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핵심기술</a:t>
            </a:r>
            <a:endParaRPr lang="en-US" altLang="ko-KR" sz="43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80487AA-3D56-F3E3-BBEF-B9B83139439E}"/>
              </a:ext>
            </a:extLst>
          </p:cNvPr>
          <p:cNvSpPr/>
          <p:nvPr/>
        </p:nvSpPr>
        <p:spPr>
          <a:xfrm>
            <a:off x="1419723" y="462694"/>
            <a:ext cx="18864565" cy="1456431"/>
          </a:xfrm>
          <a:prstGeom prst="rect">
            <a:avLst/>
          </a:prstGeom>
        </p:spPr>
        <p:txBody>
          <a:bodyPr wrap="square" lIns="70747" tIns="35373" rIns="70747" bIns="35373">
            <a:spAutoFit/>
          </a:bodyPr>
          <a:lstStyle/>
          <a:p>
            <a:pPr algn="ctr"/>
            <a:r>
              <a:rPr lang="en-US" altLang="ko-KR" sz="5800" b="1" cap="all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itchFamily="2" charset="-127"/>
                <a:ea typeface="나눔고딕 ExtraBold" pitchFamily="50" charset="-127"/>
                <a:cs typeface="Arial" panose="020B0604020202020204" pitchFamily="34" charset="0"/>
              </a:rPr>
              <a:t>Unity</a:t>
            </a:r>
            <a:r>
              <a:rPr lang="ko-KR" altLang="en-US" sz="5800" b="1" cap="all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itchFamily="2" charset="-127"/>
                <a:ea typeface="나눔고딕 ExtraBold" pitchFamily="50" charset="-127"/>
                <a:cs typeface="Arial" panose="020B0604020202020204" pitchFamily="34" charset="0"/>
              </a:rPr>
              <a:t>엔진을 이용한 </a:t>
            </a:r>
            <a:r>
              <a:rPr lang="en-US" altLang="ko-KR" sz="5800" b="1" cap="all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itchFamily="2" charset="-127"/>
                <a:ea typeface="나눔고딕 ExtraBold" pitchFamily="50" charset="-127"/>
                <a:cs typeface="Arial" panose="020B0604020202020204" pitchFamily="34" charset="0"/>
              </a:rPr>
              <a:t>2d </a:t>
            </a:r>
            <a:r>
              <a:rPr lang="ko-KR" altLang="en-US" sz="5800" b="1" cap="all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itchFamily="2" charset="-127"/>
                <a:ea typeface="나눔고딕 ExtraBold" pitchFamily="50" charset="-127"/>
                <a:cs typeface="Arial" panose="020B0604020202020204" pitchFamily="34" charset="0"/>
              </a:rPr>
              <a:t>픽셀게임</a:t>
            </a:r>
            <a:endParaRPr lang="en-US" altLang="ko-KR" sz="5800" b="1" cap="all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나눔고딕" pitchFamily="2" charset="-127"/>
              <a:ea typeface="나눔고딕 ExtraBold" pitchFamily="50" charset="-127"/>
              <a:cs typeface="Arial" panose="020B0604020202020204" pitchFamily="34" charset="0"/>
            </a:endParaRPr>
          </a:p>
          <a:p>
            <a:pPr algn="ctr"/>
            <a:r>
              <a:rPr lang="en-US" altLang="ko-KR" sz="3200" b="1" cap="all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itchFamily="2" charset="-127"/>
                <a:ea typeface="나눔고딕 ExtraBold" pitchFamily="50" charset="-127"/>
                <a:cs typeface="Arial" panose="020B0604020202020204" pitchFamily="34" charset="0"/>
              </a:rPr>
              <a:t>Hero’s harvest</a:t>
            </a:r>
            <a:endParaRPr lang="ko-KR" altLang="en-US" sz="3200" b="1" cap="all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나눔고딕" pitchFamily="2" charset="-127"/>
              <a:ea typeface="나눔고딕 ExtraBold" pitchFamily="50" charset="-127"/>
              <a:cs typeface="Arial" panose="020B0604020202020204" pitchFamily="34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397CBC2-8135-A151-FABE-E1AE8C6B08D3}"/>
              </a:ext>
            </a:extLst>
          </p:cNvPr>
          <p:cNvSpPr/>
          <p:nvPr/>
        </p:nvSpPr>
        <p:spPr>
          <a:xfrm>
            <a:off x="2670536" y="3036968"/>
            <a:ext cx="16042552" cy="604660"/>
          </a:xfrm>
          <a:prstGeom prst="rect">
            <a:avLst/>
          </a:prstGeom>
        </p:spPr>
        <p:txBody>
          <a:bodyPr wrap="square" lIns="70747" tIns="35373" rIns="70747" bIns="35373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3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이주용</a:t>
            </a:r>
            <a:r>
              <a:rPr lang="en-US" altLang="ko-KR" sz="3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 sz="3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고윤</a:t>
            </a:r>
            <a:r>
              <a:rPr lang="en-US" altLang="ko-KR" sz="3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 sz="3200" b="1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안현웅</a:t>
            </a:r>
            <a:r>
              <a:rPr lang="en-US" altLang="ko-KR" sz="3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 sz="3200" b="1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문석민</a:t>
            </a:r>
            <a:endParaRPr lang="en-US" altLang="ko-KR" sz="32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</p:txBody>
      </p:sp>
      <p:pic>
        <p:nvPicPr>
          <p:cNvPr id="4" name="그래픽 3">
            <a:extLst>
              <a:ext uri="{FF2B5EF4-FFF2-40B4-BE49-F238E27FC236}">
                <a16:creationId xmlns:a16="http://schemas.microsoft.com/office/drawing/2014/main" id="{DEC7F2C7-DF14-4589-80F0-0BF26CE2D5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49178" y="28632147"/>
            <a:ext cx="5718585" cy="957792"/>
          </a:xfrm>
          <a:prstGeom prst="rect">
            <a:avLst/>
          </a:prstGeom>
        </p:spPr>
      </p:pic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A67A920C-7F84-43D6-98A3-13D7D447A0B8}"/>
              </a:ext>
            </a:extLst>
          </p:cNvPr>
          <p:cNvSpPr/>
          <p:nvPr/>
        </p:nvSpPr>
        <p:spPr>
          <a:xfrm>
            <a:off x="2530060" y="2097585"/>
            <a:ext cx="16042552" cy="604660"/>
          </a:xfrm>
          <a:prstGeom prst="rect">
            <a:avLst/>
          </a:prstGeom>
        </p:spPr>
        <p:txBody>
          <a:bodyPr wrap="square" lIns="70747" tIns="35373" rIns="70747" bIns="35373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3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동양미래대학교 </a:t>
            </a:r>
            <a:r>
              <a:rPr lang="ko-KR" altLang="en-US" sz="3200" b="1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컴퓨터소프트웨어공학과</a:t>
            </a:r>
            <a:r>
              <a:rPr lang="ko-KR" altLang="en-US" sz="3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 </a:t>
            </a:r>
            <a:r>
              <a:rPr lang="en-US" altLang="ko-KR" sz="3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YD</a:t>
            </a:r>
            <a:r>
              <a:rPr lang="ko-KR" altLang="en-US" sz="3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반 </a:t>
            </a:r>
            <a:r>
              <a:rPr lang="en-US" altLang="ko-KR" sz="3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Fantasy</a:t>
            </a:r>
            <a:r>
              <a:rPr lang="ko-KR" altLang="en-US" sz="3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팀</a:t>
            </a:r>
            <a:endParaRPr lang="en-US" altLang="ko-KR" sz="32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651C02C-D83F-4D45-A3F4-D83E81399E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44525" y="25884730"/>
            <a:ext cx="4063492" cy="4063492"/>
          </a:xfrm>
          <a:prstGeom prst="rect">
            <a:avLst/>
          </a:prstGeom>
        </p:spPr>
      </p:pic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C53AE3C2-B36F-4A97-8460-EF1DAE57052A}"/>
              </a:ext>
            </a:extLst>
          </p:cNvPr>
          <p:cNvSpPr/>
          <p:nvPr/>
        </p:nvSpPr>
        <p:spPr>
          <a:xfrm>
            <a:off x="2726519" y="3662924"/>
            <a:ext cx="16042552" cy="604660"/>
          </a:xfrm>
          <a:prstGeom prst="rect">
            <a:avLst/>
          </a:prstGeom>
        </p:spPr>
        <p:txBody>
          <a:bodyPr wrap="square" lIns="70747" tIns="35373" rIns="70747" bIns="35373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3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지도교수 </a:t>
            </a:r>
            <a:r>
              <a:rPr lang="en-US" altLang="ko-KR" sz="3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: </a:t>
            </a:r>
            <a:r>
              <a:rPr lang="ko-KR" altLang="en-US" sz="3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이희진</a:t>
            </a:r>
            <a:endParaRPr lang="en-US" altLang="ko-KR" sz="32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14094C-0A73-765D-2BFF-975FF4F02C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88586" y="6159618"/>
            <a:ext cx="5103826" cy="2584216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F919CEE1-D1E3-FBBE-034A-A5F21F135BAE}"/>
              </a:ext>
            </a:extLst>
          </p:cNvPr>
          <p:cNvSpPr/>
          <p:nvPr/>
        </p:nvSpPr>
        <p:spPr>
          <a:xfrm>
            <a:off x="10977751" y="14059190"/>
            <a:ext cx="9723173" cy="2230544"/>
          </a:xfrm>
          <a:prstGeom prst="rect">
            <a:avLst/>
          </a:prstGeom>
        </p:spPr>
        <p:txBody>
          <a:bodyPr wrap="square" lIns="70735" tIns="35368" rIns="70735" bIns="35368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en-US" altLang="ko-KR" sz="2000" b="1" spc="-15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NavMesh</a:t>
            </a:r>
            <a:r>
              <a:rPr lang="en-US" altLang="ko-KR" sz="2000" b="1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Plus</a:t>
            </a:r>
          </a:p>
          <a:p>
            <a:pPr marL="0" lvl="1">
              <a:lnSpc>
                <a:spcPct val="120000"/>
              </a:lnSpc>
            </a:pP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Unity 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엔진의 내비게이션 시스템을 확장한 </a:t>
            </a:r>
            <a:r>
              <a:rPr lang="en-US" altLang="ko-KR" sz="2000" spc="-15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NavMesh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Plus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를 사용해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2D 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환경에서 지능적인 경로 탐색을 구현한다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.</a:t>
            </a:r>
          </a:p>
          <a:p>
            <a:pPr marL="0" lvl="1">
              <a:lnSpc>
                <a:spcPct val="120000"/>
              </a:lnSpc>
            </a:pP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캐릭터가 장애물을 피해 자연스럽게 이동하며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동적인 </a:t>
            </a:r>
            <a:r>
              <a:rPr lang="ko-KR" altLang="en-US" sz="2000" spc="-15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맵에서도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효율적인 길 찾기가 가능하도록 구성한다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.</a:t>
            </a:r>
          </a:p>
          <a:p>
            <a:pPr marL="0" lvl="1">
              <a:lnSpc>
                <a:spcPct val="120000"/>
              </a:lnSpc>
            </a:pP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자연스러운 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AI 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이동과 현실감 있는 게임 환경 구현한다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.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921DAF56-6BCF-FAA3-EFF9-D56BB3320EE4}"/>
              </a:ext>
            </a:extLst>
          </p:cNvPr>
          <p:cNvSpPr/>
          <p:nvPr/>
        </p:nvSpPr>
        <p:spPr>
          <a:xfrm>
            <a:off x="10977751" y="19522506"/>
            <a:ext cx="9723173" cy="2599876"/>
          </a:xfrm>
          <a:prstGeom prst="rect">
            <a:avLst/>
          </a:prstGeom>
        </p:spPr>
        <p:txBody>
          <a:bodyPr wrap="square" lIns="70735" tIns="35368" rIns="70735" bIns="35368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en-US" altLang="ko-KR" sz="2000" b="1" spc="-15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Finate</a:t>
            </a:r>
            <a:r>
              <a:rPr lang="en-US" altLang="ko-KR" sz="2000" b="1" spc="-15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state machine</a:t>
            </a:r>
            <a:endParaRPr lang="en-US" altLang="ko-KR" sz="2000" b="1" spc="-15" dirty="0">
              <a:ln>
                <a:solidFill>
                  <a:schemeClr val="accent1">
                    <a:alpha val="0"/>
                  </a:schemeClr>
                </a:solidFill>
              </a:ln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  <a:p>
            <a:pPr marL="0" lvl="1">
              <a:lnSpc>
                <a:spcPct val="120000"/>
              </a:lnSpc>
            </a:pP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게임 캐릭터의 행동 로직을 유한한 개수의 상태와 상태 전이 조건으로 나누어 관리하는 디자인 패턴이다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.</a:t>
            </a:r>
          </a:p>
          <a:p>
            <a:pPr marL="0" lvl="1">
              <a:lnSpc>
                <a:spcPct val="120000"/>
              </a:lnSpc>
            </a:pP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캐릭터의 행동을 대기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(Idle), 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이동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(Move),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공격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(Attack), 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피격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(Hit) 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등 개별상태로 구분하고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각 상태에서 다른 상태로 전환되는 조건을 명확히 정의하여 개발 및 유지보수가 쉽다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.</a:t>
            </a:r>
          </a:p>
          <a:p>
            <a:pPr marL="0" lvl="1">
              <a:lnSpc>
                <a:spcPct val="120000"/>
              </a:lnSpc>
            </a:pP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새로운 행동이나 상태 추가 시 기존 로직에 미치는 영향을 최소화하여 쉽게 기능 확장이 가능하다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9" name="그림 8" descr="평면도, 지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DF4EA06-8138-7330-9073-AB33C5FC58C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7403" y="11164423"/>
            <a:ext cx="3835667" cy="2876750"/>
          </a:xfrm>
          <a:prstGeom prst="rect">
            <a:avLst/>
          </a:prstGeom>
        </p:spPr>
      </p:pic>
      <p:pic>
        <p:nvPicPr>
          <p:cNvPr id="12" name="그림 11" descr="스크린샷, 도표, 라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7553E86-F2AD-CD94-77E6-FB0B91EDFB7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4078" y="16505758"/>
            <a:ext cx="3835667" cy="2876750"/>
          </a:xfrm>
          <a:prstGeom prst="rect">
            <a:avLst/>
          </a:prstGeom>
        </p:spPr>
      </p:pic>
      <p:pic>
        <p:nvPicPr>
          <p:cNvPr id="17" name="그림 16" descr="만화 영화, 클립아트, 스크린샷, 개구리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8129077-6C5C-B862-D9AF-FBFFBE12D32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737" y="12848158"/>
            <a:ext cx="2981307" cy="2235980"/>
          </a:xfrm>
          <a:prstGeom prst="rect">
            <a:avLst/>
          </a:prstGeom>
        </p:spPr>
      </p:pic>
      <p:pic>
        <p:nvPicPr>
          <p:cNvPr id="20" name="그림 19" descr="만화 영화, 클립아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2561D41-0B54-77A2-F700-ECBDA4E8D74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737" y="18926687"/>
            <a:ext cx="2981308" cy="2235981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B2135643-1888-471F-857B-8250F96EFE02}"/>
              </a:ext>
            </a:extLst>
          </p:cNvPr>
          <p:cNvSpPr/>
          <p:nvPr/>
        </p:nvSpPr>
        <p:spPr>
          <a:xfrm>
            <a:off x="680609" y="21211276"/>
            <a:ext cx="9723171" cy="2969208"/>
          </a:xfrm>
          <a:prstGeom prst="rect">
            <a:avLst/>
          </a:prstGeom>
        </p:spPr>
        <p:txBody>
          <a:bodyPr wrap="square" lIns="70735" tIns="35368" rIns="70735" bIns="35368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en-US" altLang="ko-KR" sz="2000" b="1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2. </a:t>
            </a:r>
            <a:r>
              <a:rPr lang="ko-KR" altLang="en-US" sz="2000" b="1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농사 시스템</a:t>
            </a:r>
          </a:p>
          <a:p>
            <a:pPr marL="0" lvl="1">
              <a:lnSpc>
                <a:spcPct val="120000"/>
              </a:lnSpc>
            </a:pP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농사 시스템은 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Hero’s Harvest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의 이름 그대로 작품의 중심 기능 중 하나이다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.</a:t>
            </a:r>
          </a:p>
          <a:p>
            <a:pPr marL="0" lvl="1">
              <a:lnSpc>
                <a:spcPct val="120000"/>
              </a:lnSpc>
            </a:pP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플레이어는 씨앗을 심고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작물을 재배하며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성장 과정을 직접 관리할 수 있다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.</a:t>
            </a:r>
          </a:p>
          <a:p>
            <a:pPr marL="0" lvl="1">
              <a:lnSpc>
                <a:spcPct val="120000"/>
              </a:lnSpc>
            </a:pP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• 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성장 주기 시스템</a:t>
            </a:r>
          </a:p>
          <a:p>
            <a:pPr marL="0" lvl="1">
              <a:lnSpc>
                <a:spcPct val="120000"/>
              </a:lnSpc>
            </a:pP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작물은 게임 내 시간에 따라 성장 단계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( 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씨앗 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-&gt; </a:t>
            </a:r>
            <a:r>
              <a:rPr lang="ko-KR" altLang="en-US" sz="2000" spc="-15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새쌋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-&gt; 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성장 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-&gt; 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수확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)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로 변한다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.</a:t>
            </a:r>
          </a:p>
          <a:p>
            <a:pPr marL="0" lvl="1">
              <a:lnSpc>
                <a:spcPct val="120000"/>
              </a:lnSpc>
            </a:pP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• </a:t>
            </a:r>
            <a:r>
              <a:rPr lang="ko-KR" altLang="en-US" sz="2000" spc="-15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수확물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활용</a:t>
            </a:r>
          </a:p>
          <a:p>
            <a:pPr marL="0" lvl="1">
              <a:lnSpc>
                <a:spcPct val="120000"/>
              </a:lnSpc>
            </a:pP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수확한 작물은 단순 판매용이 아닌 </a:t>
            </a:r>
            <a:r>
              <a:rPr lang="ko-KR" altLang="en-US" sz="2000" spc="-15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포션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제작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장비 강화 등에 사용되어 전투 시스템과 긴밀히 연결된다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23" name="그림 22" descr="스크린샷, 만화 영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8BBBABB-FD35-9A4A-1C40-765D06D9086E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737" y="24210614"/>
            <a:ext cx="2981308" cy="2235981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164BE150-E34A-07C9-8EC5-BE89196E8166}"/>
              </a:ext>
            </a:extLst>
          </p:cNvPr>
          <p:cNvSpPr/>
          <p:nvPr/>
        </p:nvSpPr>
        <p:spPr>
          <a:xfrm>
            <a:off x="680609" y="26539868"/>
            <a:ext cx="9723171" cy="2969208"/>
          </a:xfrm>
          <a:prstGeom prst="rect">
            <a:avLst/>
          </a:prstGeom>
        </p:spPr>
        <p:txBody>
          <a:bodyPr wrap="square" lIns="70735" tIns="35368" rIns="70735" bIns="35368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en-US" altLang="ko-KR" sz="2000" b="1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3. </a:t>
            </a:r>
            <a:r>
              <a:rPr lang="ko-KR" altLang="en-US" sz="2000" b="1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수집 및 제작 시스템</a:t>
            </a:r>
          </a:p>
          <a:p>
            <a:pPr marL="0" lvl="1">
              <a:lnSpc>
                <a:spcPct val="120000"/>
              </a:lnSpc>
            </a:pP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수집 시스템은 플레이어가 게임 세계를 탐험하며 다양한 자원을 채집하는 과정이다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.</a:t>
            </a:r>
          </a:p>
          <a:p>
            <a:pPr marL="0" lvl="1">
              <a:lnSpc>
                <a:spcPct val="120000"/>
              </a:lnSpc>
            </a:pP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• 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제작 시스템</a:t>
            </a:r>
          </a:p>
          <a:p>
            <a:pPr marL="0" lvl="1">
              <a:lnSpc>
                <a:spcPct val="120000"/>
              </a:lnSpc>
            </a:pP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플레이어는 농장에서 수집한 재료를 조합하여 새로운 아이템을 제작할 수 있다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.</a:t>
            </a:r>
          </a:p>
          <a:p>
            <a:pPr marL="0" lvl="1">
              <a:lnSpc>
                <a:spcPct val="120000"/>
              </a:lnSpc>
            </a:pP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“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철 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+ 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나무” 를 통해 철 도끼를 제작하거나 “약초 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+ </a:t>
            </a:r>
            <a:r>
              <a:rPr lang="ko-KR" altLang="en-US" sz="2000" spc="-15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물“으로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“회복 </a:t>
            </a:r>
            <a:r>
              <a:rPr lang="ko-KR" altLang="en-US" sz="2000" spc="-15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포션＂을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만들 수 있다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.</a:t>
            </a:r>
          </a:p>
          <a:p>
            <a:pPr marL="0" lvl="1">
              <a:lnSpc>
                <a:spcPct val="120000"/>
              </a:lnSpc>
            </a:pP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•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탐험 연동</a:t>
            </a:r>
          </a:p>
          <a:p>
            <a:pPr marL="0" lvl="1">
              <a:lnSpc>
                <a:spcPct val="120000"/>
              </a:lnSpc>
            </a:pP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희귀 자원은 특정 던전이나 보스 지역에서만 획득할 수 있도록 설정하여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플레이어가 꾸준히 전투와 탐험을 병행하도록 유도한다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11498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1530</TotalTime>
  <Words>613</Words>
  <Application>Microsoft Office PowerPoint</Application>
  <PresentationFormat>사용자 지정</PresentationFormat>
  <Paragraphs>55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나눔고딕</vt:lpstr>
      <vt:lpstr>나눔고딕 ExtraBold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이주용</cp:lastModifiedBy>
  <cp:revision>116</cp:revision>
  <dcterms:created xsi:type="dcterms:W3CDTF">2018-10-17T01:18:09Z</dcterms:created>
  <dcterms:modified xsi:type="dcterms:W3CDTF">2025-10-29T14:12:50Z</dcterms:modified>
</cp:coreProperties>
</file>